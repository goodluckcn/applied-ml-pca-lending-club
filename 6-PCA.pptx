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8"/>
  </p:notesMasterIdLst>
  <p:handoutMasterIdLst>
    <p:handoutMasterId r:id="rId9"/>
  </p:handoutMasterIdLst>
  <p:sldIdLst>
    <p:sldId id="256" r:id="rId2"/>
    <p:sldId id="262" r:id="rId3"/>
    <p:sldId id="264" r:id="rId4"/>
    <p:sldId id="265" r:id="rId5"/>
    <p:sldId id="263"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54045C"/>
    <a:srgbClr val="5E4FA2"/>
    <a:srgbClr val="4D004B"/>
    <a:srgbClr val="006837"/>
    <a:srgbClr val="F0F0F0"/>
    <a:srgbClr val="000000"/>
    <a:srgbClr val="F2F2F2"/>
    <a:srgbClr val="CFB9D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85" d="100"/>
          <a:sy n="85" d="100"/>
        </p:scale>
        <p:origin x="590"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A268EA-FA2C-4A20-A54C-781D87C7CD3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14ADF332-2CE6-4F77-91C2-4ED9F1114281}">
      <dgm:prSet custT="1"/>
      <dgm:spPr/>
      <dgm:t>
        <a:bodyPr/>
        <a:lstStyle/>
        <a:p>
          <a:r>
            <a:rPr lang="en-US" sz="1200" b="1" i="0" dirty="0">
              <a:latin typeface="+mn-lt"/>
            </a:rPr>
            <a:t>A). C</a:t>
          </a:r>
          <a:r>
            <a:rPr lang="en-US" sz="1200" b="1" i="0" dirty="0"/>
            <a:t>hoose number of principal components</a:t>
          </a:r>
        </a:p>
      </dgm:t>
    </dgm:pt>
    <dgm:pt modelId="{2B834FB0-40D1-4CE4-984B-EBBAEBA30F99}" type="parTrans" cxnId="{CC3D1955-41D7-42DF-9083-5587110E2A78}">
      <dgm:prSet/>
      <dgm:spPr/>
      <dgm:t>
        <a:bodyPr/>
        <a:lstStyle/>
        <a:p>
          <a:endParaRPr lang="en-US">
            <a:latin typeface="+mn-lt"/>
          </a:endParaRPr>
        </a:p>
      </dgm:t>
    </dgm:pt>
    <dgm:pt modelId="{EC3604E6-BCA6-4C25-AC44-D857930F615E}" type="sibTrans" cxnId="{CC3D1955-41D7-42DF-9083-5587110E2A78}">
      <dgm:prSet/>
      <dgm:spPr/>
      <dgm:t>
        <a:bodyPr/>
        <a:lstStyle/>
        <a:p>
          <a:endParaRPr lang="en-US">
            <a:latin typeface="+mn-lt"/>
          </a:endParaRPr>
        </a:p>
      </dgm:t>
    </dgm:pt>
    <dgm:pt modelId="{606AA1D7-16AF-43DB-9123-D2DB789E2214}" type="pres">
      <dgm:prSet presAssocID="{B3A268EA-FA2C-4A20-A54C-781D87C7CD3C}" presName="linear" presStyleCnt="0">
        <dgm:presLayoutVars>
          <dgm:animLvl val="lvl"/>
          <dgm:resizeHandles val="exact"/>
        </dgm:presLayoutVars>
      </dgm:prSet>
      <dgm:spPr/>
    </dgm:pt>
    <dgm:pt modelId="{8418C724-C807-4B6B-81EC-C2FAD88A9390}" type="pres">
      <dgm:prSet presAssocID="{14ADF332-2CE6-4F77-91C2-4ED9F1114281}" presName="parentText" presStyleLbl="node1" presStyleIdx="0" presStyleCnt="1" custScaleX="102517" custScaleY="249997" custLinFactY="34076" custLinFactNeighborX="-2465" custLinFactNeighborY="100000">
        <dgm:presLayoutVars>
          <dgm:chMax val="0"/>
          <dgm:bulletEnabled val="1"/>
        </dgm:presLayoutVars>
      </dgm:prSet>
      <dgm:spPr/>
    </dgm:pt>
  </dgm:ptLst>
  <dgm:cxnLst>
    <dgm:cxn modelId="{53526410-5F78-4CA5-886E-28E5AE036238}" type="presOf" srcId="{B3A268EA-FA2C-4A20-A54C-781D87C7CD3C}" destId="{606AA1D7-16AF-43DB-9123-D2DB789E2214}" srcOrd="0" destOrd="0" presId="urn:microsoft.com/office/officeart/2005/8/layout/vList2"/>
    <dgm:cxn modelId="{CC3D1955-41D7-42DF-9083-5587110E2A78}" srcId="{B3A268EA-FA2C-4A20-A54C-781D87C7CD3C}" destId="{14ADF332-2CE6-4F77-91C2-4ED9F1114281}" srcOrd="0" destOrd="0" parTransId="{2B834FB0-40D1-4CE4-984B-EBBAEBA30F99}" sibTransId="{EC3604E6-BCA6-4C25-AC44-D857930F615E}"/>
    <dgm:cxn modelId="{9B702A8A-0823-47A2-B9E3-E4B08FDDDC6F}" type="presOf" srcId="{14ADF332-2CE6-4F77-91C2-4ED9F1114281}" destId="{8418C724-C807-4B6B-81EC-C2FAD88A9390}" srcOrd="0" destOrd="0" presId="urn:microsoft.com/office/officeart/2005/8/layout/vList2"/>
    <dgm:cxn modelId="{DD0F356F-746B-4024-91C4-294F5FA472B6}" type="presParOf" srcId="{606AA1D7-16AF-43DB-9123-D2DB789E2214}" destId="{8418C724-C807-4B6B-81EC-C2FAD88A9390}" srcOrd="0"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BA418F-EAA9-4406-BDED-59DC0254A804}"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C0DF2E9D-9B90-4B25-A224-8F6C42361E2B}">
      <dgm:prSet/>
      <dgm:spPr/>
      <dgm:t>
        <a:bodyPr/>
        <a:lstStyle/>
        <a:p>
          <a:r>
            <a:rPr lang="en-US" b="1" i="0" dirty="0">
              <a:latin typeface="+mn-lt"/>
            </a:rPr>
            <a:t>Task 1  </a:t>
          </a:r>
          <a:r>
            <a:rPr lang="en-US" b="0" i="0" dirty="0">
              <a:latin typeface="+mn-lt"/>
            </a:rPr>
            <a:t>	</a:t>
          </a:r>
        </a:p>
      </dgm:t>
    </dgm:pt>
    <dgm:pt modelId="{595EC6F3-B01E-4BD2-B930-084D08783F88}" type="parTrans" cxnId="{C26B60F3-FA95-4DF0-97C4-6F594158C36D}">
      <dgm:prSet/>
      <dgm:spPr/>
      <dgm:t>
        <a:bodyPr/>
        <a:lstStyle/>
        <a:p>
          <a:endParaRPr lang="en-US"/>
        </a:p>
      </dgm:t>
    </dgm:pt>
    <dgm:pt modelId="{AB9E0A28-A4CF-483B-8F6D-453A5FDDAE64}" type="sibTrans" cxnId="{C26B60F3-FA95-4DF0-97C4-6F594158C36D}">
      <dgm:prSet/>
      <dgm:spPr/>
      <dgm:t>
        <a:bodyPr/>
        <a:lstStyle/>
        <a:p>
          <a:endParaRPr lang="en-US"/>
        </a:p>
      </dgm:t>
    </dgm:pt>
    <dgm:pt modelId="{DD3730C0-E9A6-4873-883A-C6D9F77F6ED7}" type="pres">
      <dgm:prSet presAssocID="{2BBA418F-EAA9-4406-BDED-59DC0254A804}" presName="linear" presStyleCnt="0">
        <dgm:presLayoutVars>
          <dgm:animLvl val="lvl"/>
          <dgm:resizeHandles val="exact"/>
        </dgm:presLayoutVars>
      </dgm:prSet>
      <dgm:spPr/>
    </dgm:pt>
    <dgm:pt modelId="{FFA5CFD1-D1A0-4DFA-8721-BAF431E40AB5}" type="pres">
      <dgm:prSet presAssocID="{C0DF2E9D-9B90-4B25-A224-8F6C42361E2B}" presName="parentText" presStyleLbl="node1" presStyleIdx="0" presStyleCnt="1" custLinFactNeighborX="-159" custLinFactNeighborY="-4436">
        <dgm:presLayoutVars>
          <dgm:chMax val="0"/>
          <dgm:bulletEnabled val="1"/>
        </dgm:presLayoutVars>
      </dgm:prSet>
      <dgm:spPr/>
    </dgm:pt>
  </dgm:ptLst>
  <dgm:cxnLst>
    <dgm:cxn modelId="{56282F9D-1C76-43E9-AA09-83C0E0829A8F}" type="presOf" srcId="{2BBA418F-EAA9-4406-BDED-59DC0254A804}" destId="{DD3730C0-E9A6-4873-883A-C6D9F77F6ED7}" srcOrd="0" destOrd="0" presId="urn:microsoft.com/office/officeart/2005/8/layout/vList2"/>
    <dgm:cxn modelId="{C26B60F3-FA95-4DF0-97C4-6F594158C36D}" srcId="{2BBA418F-EAA9-4406-BDED-59DC0254A804}" destId="{C0DF2E9D-9B90-4B25-A224-8F6C42361E2B}" srcOrd="0" destOrd="0" parTransId="{595EC6F3-B01E-4BD2-B930-084D08783F88}" sibTransId="{AB9E0A28-A4CF-483B-8F6D-453A5FDDAE64}"/>
    <dgm:cxn modelId="{A0D23DF9-4A8E-4DF5-A26B-22C2254ECA7C}" type="presOf" srcId="{C0DF2E9D-9B90-4B25-A224-8F6C42361E2B}" destId="{FFA5CFD1-D1A0-4DFA-8721-BAF431E40AB5}" srcOrd="0" destOrd="0" presId="urn:microsoft.com/office/officeart/2005/8/layout/vList2"/>
    <dgm:cxn modelId="{5190CABC-571B-4337-832A-09E8A4E2B405}" type="presParOf" srcId="{DD3730C0-E9A6-4873-883A-C6D9F77F6ED7}" destId="{FFA5CFD1-D1A0-4DFA-8721-BAF431E40AB5}"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02B0E97-E566-4CBA-A4B4-E250274950B5}"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DF3EEA47-1267-4D6C-AC52-141CF14C597A}">
      <dgm:prSet/>
      <dgm:spPr/>
      <dgm:t>
        <a:bodyPr/>
        <a:lstStyle/>
        <a:p>
          <a:r>
            <a:rPr lang="en-US"/>
            <a:t>Visualize Principal Components</a:t>
          </a:r>
        </a:p>
      </dgm:t>
    </dgm:pt>
    <dgm:pt modelId="{BC4D99C6-6CEA-457B-87E1-6B3FC171556D}" type="parTrans" cxnId="{661F18B4-47C9-47CA-8B3C-E34569755F21}">
      <dgm:prSet/>
      <dgm:spPr/>
      <dgm:t>
        <a:bodyPr/>
        <a:lstStyle/>
        <a:p>
          <a:endParaRPr lang="en-US"/>
        </a:p>
      </dgm:t>
    </dgm:pt>
    <dgm:pt modelId="{3B790546-6BC0-4E08-83D1-820F2D9C5402}" type="sibTrans" cxnId="{661F18B4-47C9-47CA-8B3C-E34569755F21}">
      <dgm:prSet/>
      <dgm:spPr/>
      <dgm:t>
        <a:bodyPr/>
        <a:lstStyle/>
        <a:p>
          <a:endParaRPr lang="en-US"/>
        </a:p>
      </dgm:t>
    </dgm:pt>
    <dgm:pt modelId="{CE231538-3610-43A1-B920-DAF439097CF7}" type="pres">
      <dgm:prSet presAssocID="{B02B0E97-E566-4CBA-A4B4-E250274950B5}" presName="linear" presStyleCnt="0">
        <dgm:presLayoutVars>
          <dgm:animLvl val="lvl"/>
          <dgm:resizeHandles val="exact"/>
        </dgm:presLayoutVars>
      </dgm:prSet>
      <dgm:spPr/>
    </dgm:pt>
    <dgm:pt modelId="{F60CD108-36AC-4DF4-BF6A-A24249194513}" type="pres">
      <dgm:prSet presAssocID="{DF3EEA47-1267-4D6C-AC52-141CF14C597A}" presName="parentText" presStyleLbl="node1" presStyleIdx="0" presStyleCnt="1" custLinFactNeighborX="-21005" custLinFactNeighborY="21594">
        <dgm:presLayoutVars>
          <dgm:chMax val="0"/>
          <dgm:bulletEnabled val="1"/>
        </dgm:presLayoutVars>
      </dgm:prSet>
      <dgm:spPr/>
    </dgm:pt>
  </dgm:ptLst>
  <dgm:cxnLst>
    <dgm:cxn modelId="{B86FEB3A-92A3-4756-A82C-BA74D805B856}" type="presOf" srcId="{DF3EEA47-1267-4D6C-AC52-141CF14C597A}" destId="{F60CD108-36AC-4DF4-BF6A-A24249194513}" srcOrd="0" destOrd="0" presId="urn:microsoft.com/office/officeart/2005/8/layout/vList2"/>
    <dgm:cxn modelId="{8B5C1152-4C56-4D5A-8A22-691E0648FB13}" type="presOf" srcId="{B02B0E97-E566-4CBA-A4B4-E250274950B5}" destId="{CE231538-3610-43A1-B920-DAF439097CF7}" srcOrd="0" destOrd="0" presId="urn:microsoft.com/office/officeart/2005/8/layout/vList2"/>
    <dgm:cxn modelId="{661F18B4-47C9-47CA-8B3C-E34569755F21}" srcId="{B02B0E97-E566-4CBA-A4B4-E250274950B5}" destId="{DF3EEA47-1267-4D6C-AC52-141CF14C597A}" srcOrd="0" destOrd="0" parTransId="{BC4D99C6-6CEA-457B-87E1-6B3FC171556D}" sibTransId="{3B790546-6BC0-4E08-83D1-820F2D9C5402}"/>
    <dgm:cxn modelId="{6B80F605-A79E-439D-8967-6FFCEFE82145}" type="presParOf" srcId="{CE231538-3610-43A1-B920-DAF439097CF7}" destId="{F60CD108-36AC-4DF4-BF6A-A24249194513}" srcOrd="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2B0E97-E566-4CBA-A4B4-E250274950B5}"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DF3EEA47-1267-4D6C-AC52-141CF14C597A}">
      <dgm:prSet/>
      <dgm:spPr/>
      <dgm:t>
        <a:bodyPr/>
        <a:lstStyle/>
        <a:p>
          <a:r>
            <a:rPr lang="en-US" b="1" i="0" dirty="0"/>
            <a:t>Interpret biplot</a:t>
          </a:r>
          <a:endParaRPr lang="en-US" dirty="0"/>
        </a:p>
      </dgm:t>
    </dgm:pt>
    <dgm:pt modelId="{BC4D99C6-6CEA-457B-87E1-6B3FC171556D}" type="parTrans" cxnId="{661F18B4-47C9-47CA-8B3C-E34569755F21}">
      <dgm:prSet/>
      <dgm:spPr/>
      <dgm:t>
        <a:bodyPr/>
        <a:lstStyle/>
        <a:p>
          <a:endParaRPr lang="en-US"/>
        </a:p>
      </dgm:t>
    </dgm:pt>
    <dgm:pt modelId="{3B790546-6BC0-4E08-83D1-820F2D9C5402}" type="sibTrans" cxnId="{661F18B4-47C9-47CA-8B3C-E34569755F21}">
      <dgm:prSet/>
      <dgm:spPr/>
      <dgm:t>
        <a:bodyPr/>
        <a:lstStyle/>
        <a:p>
          <a:endParaRPr lang="en-US"/>
        </a:p>
      </dgm:t>
    </dgm:pt>
    <dgm:pt modelId="{CE231538-3610-43A1-B920-DAF439097CF7}" type="pres">
      <dgm:prSet presAssocID="{B02B0E97-E566-4CBA-A4B4-E250274950B5}" presName="linear" presStyleCnt="0">
        <dgm:presLayoutVars>
          <dgm:animLvl val="lvl"/>
          <dgm:resizeHandles val="exact"/>
        </dgm:presLayoutVars>
      </dgm:prSet>
      <dgm:spPr/>
    </dgm:pt>
    <dgm:pt modelId="{F60CD108-36AC-4DF4-BF6A-A24249194513}" type="pres">
      <dgm:prSet presAssocID="{DF3EEA47-1267-4D6C-AC52-141CF14C597A}" presName="parentText" presStyleLbl="node1" presStyleIdx="0" presStyleCnt="1" custLinFactNeighborY="588">
        <dgm:presLayoutVars>
          <dgm:chMax val="0"/>
          <dgm:bulletEnabled val="1"/>
        </dgm:presLayoutVars>
      </dgm:prSet>
      <dgm:spPr/>
    </dgm:pt>
  </dgm:ptLst>
  <dgm:cxnLst>
    <dgm:cxn modelId="{B86FEB3A-92A3-4756-A82C-BA74D805B856}" type="presOf" srcId="{DF3EEA47-1267-4D6C-AC52-141CF14C597A}" destId="{F60CD108-36AC-4DF4-BF6A-A24249194513}" srcOrd="0" destOrd="0" presId="urn:microsoft.com/office/officeart/2005/8/layout/vList2"/>
    <dgm:cxn modelId="{8B5C1152-4C56-4D5A-8A22-691E0648FB13}" type="presOf" srcId="{B02B0E97-E566-4CBA-A4B4-E250274950B5}" destId="{CE231538-3610-43A1-B920-DAF439097CF7}" srcOrd="0" destOrd="0" presId="urn:microsoft.com/office/officeart/2005/8/layout/vList2"/>
    <dgm:cxn modelId="{661F18B4-47C9-47CA-8B3C-E34569755F21}" srcId="{B02B0E97-E566-4CBA-A4B4-E250274950B5}" destId="{DF3EEA47-1267-4D6C-AC52-141CF14C597A}" srcOrd="0" destOrd="0" parTransId="{BC4D99C6-6CEA-457B-87E1-6B3FC171556D}" sibTransId="{3B790546-6BC0-4E08-83D1-820F2D9C5402}"/>
    <dgm:cxn modelId="{6B80F605-A79E-439D-8967-6FFCEFE82145}" type="presParOf" srcId="{CE231538-3610-43A1-B920-DAF439097CF7}" destId="{F60CD108-36AC-4DF4-BF6A-A24249194513}" srcOrd="0"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C002CA2-B4BF-48C8-ABCB-F9373713FFA3}"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67B0CC5B-C052-449C-A2E1-7CD9F0FFA0DF}">
      <dgm:prSet/>
      <dgm:spPr/>
      <dgm:t>
        <a:bodyPr/>
        <a:lstStyle/>
        <a:p>
          <a:r>
            <a:rPr lang="en-US" b="1"/>
            <a:t>Note</a:t>
          </a:r>
          <a:r>
            <a:rPr lang="en-US"/>
            <a:t>:</a:t>
          </a:r>
        </a:p>
      </dgm:t>
    </dgm:pt>
    <dgm:pt modelId="{70171C18-D47D-4CB6-9E75-153838DEFD4F}" type="parTrans" cxnId="{E7A2FED3-12AB-421E-8F48-01E8037D7B08}">
      <dgm:prSet/>
      <dgm:spPr/>
      <dgm:t>
        <a:bodyPr/>
        <a:lstStyle/>
        <a:p>
          <a:endParaRPr lang="en-US"/>
        </a:p>
      </dgm:t>
    </dgm:pt>
    <dgm:pt modelId="{A658CC93-4E7F-4A30-8822-837E044FBAED}" type="sibTrans" cxnId="{E7A2FED3-12AB-421E-8F48-01E8037D7B08}">
      <dgm:prSet/>
      <dgm:spPr/>
      <dgm:t>
        <a:bodyPr/>
        <a:lstStyle/>
        <a:p>
          <a:endParaRPr lang="en-US"/>
        </a:p>
      </dgm:t>
    </dgm:pt>
    <dgm:pt modelId="{C6105CA9-75AD-4E3B-9258-569ABF5618A2}" type="pres">
      <dgm:prSet presAssocID="{2C002CA2-B4BF-48C8-ABCB-F9373713FFA3}" presName="linear" presStyleCnt="0">
        <dgm:presLayoutVars>
          <dgm:animLvl val="lvl"/>
          <dgm:resizeHandles val="exact"/>
        </dgm:presLayoutVars>
      </dgm:prSet>
      <dgm:spPr/>
    </dgm:pt>
    <dgm:pt modelId="{F13A27E2-40D2-4C88-966D-4CD30693101B}" type="pres">
      <dgm:prSet presAssocID="{67B0CC5B-C052-449C-A2E1-7CD9F0FFA0DF}" presName="parentText" presStyleLbl="node1" presStyleIdx="0" presStyleCnt="1" custLinFactNeighborY="42026">
        <dgm:presLayoutVars>
          <dgm:chMax val="0"/>
          <dgm:bulletEnabled val="1"/>
        </dgm:presLayoutVars>
      </dgm:prSet>
      <dgm:spPr/>
    </dgm:pt>
  </dgm:ptLst>
  <dgm:cxnLst>
    <dgm:cxn modelId="{F63B9700-5411-4B91-B9EB-EE8E805F7F14}" type="presOf" srcId="{67B0CC5B-C052-449C-A2E1-7CD9F0FFA0DF}" destId="{F13A27E2-40D2-4C88-966D-4CD30693101B}" srcOrd="0" destOrd="0" presId="urn:microsoft.com/office/officeart/2005/8/layout/vList2"/>
    <dgm:cxn modelId="{E7A2FED3-12AB-421E-8F48-01E8037D7B08}" srcId="{2C002CA2-B4BF-48C8-ABCB-F9373713FFA3}" destId="{67B0CC5B-C052-449C-A2E1-7CD9F0FFA0DF}" srcOrd="0" destOrd="0" parTransId="{70171C18-D47D-4CB6-9E75-153838DEFD4F}" sibTransId="{A658CC93-4E7F-4A30-8822-837E044FBAED}"/>
    <dgm:cxn modelId="{FA0654E4-D559-4EF3-9A7C-E9884D2469D2}" type="presOf" srcId="{2C002CA2-B4BF-48C8-ABCB-F9373713FFA3}" destId="{C6105CA9-75AD-4E3B-9258-569ABF5618A2}" srcOrd="0" destOrd="0" presId="urn:microsoft.com/office/officeart/2005/8/layout/vList2"/>
    <dgm:cxn modelId="{6F988277-40BC-489B-8567-E7C0EB4FC88C}" type="presParOf" srcId="{C6105CA9-75AD-4E3B-9258-569ABF5618A2}" destId="{F13A27E2-40D2-4C88-966D-4CD30693101B}" srcOrd="0" destOrd="0" presId="urn:microsoft.com/office/officeart/2005/8/layout/vList2"/>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10EFAD8-3871-4DE7-9668-1DE5E2AA8EE2}"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AC797F41-E07D-498A-9BFC-01A5A98D4B9C}">
      <dgm:prSet/>
      <dgm:spPr/>
      <dgm:t>
        <a:bodyPr/>
        <a:lstStyle/>
        <a:p>
          <a:r>
            <a:rPr lang="en-US" dirty="0"/>
            <a:t>Variables affecting PC</a:t>
          </a:r>
        </a:p>
      </dgm:t>
    </dgm:pt>
    <dgm:pt modelId="{B40638FE-AFC6-49EA-8B83-1BE5D55FBEC7}" type="parTrans" cxnId="{161097B8-F69E-44E2-97AC-53351B70EFD1}">
      <dgm:prSet/>
      <dgm:spPr/>
      <dgm:t>
        <a:bodyPr/>
        <a:lstStyle/>
        <a:p>
          <a:endParaRPr lang="en-US"/>
        </a:p>
      </dgm:t>
    </dgm:pt>
    <dgm:pt modelId="{0FE860C3-4E6E-4AF6-AF1A-2A5B963808BB}" type="sibTrans" cxnId="{161097B8-F69E-44E2-97AC-53351B70EFD1}">
      <dgm:prSet/>
      <dgm:spPr/>
      <dgm:t>
        <a:bodyPr/>
        <a:lstStyle/>
        <a:p>
          <a:endParaRPr lang="en-US"/>
        </a:p>
      </dgm:t>
    </dgm:pt>
    <dgm:pt modelId="{4790A996-3CCC-4E0B-B9C5-BADACFBDEC42}" type="pres">
      <dgm:prSet presAssocID="{D10EFAD8-3871-4DE7-9668-1DE5E2AA8EE2}" presName="linear" presStyleCnt="0">
        <dgm:presLayoutVars>
          <dgm:animLvl val="lvl"/>
          <dgm:resizeHandles val="exact"/>
        </dgm:presLayoutVars>
      </dgm:prSet>
      <dgm:spPr/>
    </dgm:pt>
    <dgm:pt modelId="{22610BA2-D62A-423C-B4F1-9592E4481B88}" type="pres">
      <dgm:prSet presAssocID="{AC797F41-E07D-498A-9BFC-01A5A98D4B9C}" presName="parentText" presStyleLbl="node1" presStyleIdx="0" presStyleCnt="1" custLinFactNeighborY="871">
        <dgm:presLayoutVars>
          <dgm:chMax val="0"/>
          <dgm:bulletEnabled val="1"/>
        </dgm:presLayoutVars>
      </dgm:prSet>
      <dgm:spPr/>
    </dgm:pt>
  </dgm:ptLst>
  <dgm:cxnLst>
    <dgm:cxn modelId="{70990F0A-90E8-49D4-B4C6-1746D95DE3ED}" type="presOf" srcId="{AC797F41-E07D-498A-9BFC-01A5A98D4B9C}" destId="{22610BA2-D62A-423C-B4F1-9592E4481B88}" srcOrd="0" destOrd="0" presId="urn:microsoft.com/office/officeart/2005/8/layout/vList2"/>
    <dgm:cxn modelId="{6BF96594-133D-4C88-998A-992197ADE269}" type="presOf" srcId="{D10EFAD8-3871-4DE7-9668-1DE5E2AA8EE2}" destId="{4790A996-3CCC-4E0B-B9C5-BADACFBDEC42}" srcOrd="0" destOrd="0" presId="urn:microsoft.com/office/officeart/2005/8/layout/vList2"/>
    <dgm:cxn modelId="{161097B8-F69E-44E2-97AC-53351B70EFD1}" srcId="{D10EFAD8-3871-4DE7-9668-1DE5E2AA8EE2}" destId="{AC797F41-E07D-498A-9BFC-01A5A98D4B9C}" srcOrd="0" destOrd="0" parTransId="{B40638FE-AFC6-49EA-8B83-1BE5D55FBEC7}" sibTransId="{0FE860C3-4E6E-4AF6-AF1A-2A5B963808BB}"/>
    <dgm:cxn modelId="{DE9FB5FC-ADAC-4EDB-B255-49815903B4DD}" type="presParOf" srcId="{4790A996-3CCC-4E0B-B9C5-BADACFBDEC42}" destId="{22610BA2-D62A-423C-B4F1-9592E4481B88}" srcOrd="0"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10EFAD8-3871-4DE7-9668-1DE5E2AA8EE2}"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AC797F41-E07D-498A-9BFC-01A5A98D4B9C}">
      <dgm:prSet/>
      <dgm:spPr/>
      <dgm:t>
        <a:bodyPr/>
        <a:lstStyle/>
        <a:p>
          <a:r>
            <a:rPr lang="en-US" dirty="0"/>
            <a:t>Correlation between pairs of variables </a:t>
          </a:r>
        </a:p>
      </dgm:t>
    </dgm:pt>
    <dgm:pt modelId="{B40638FE-AFC6-49EA-8B83-1BE5D55FBEC7}" type="parTrans" cxnId="{161097B8-F69E-44E2-97AC-53351B70EFD1}">
      <dgm:prSet/>
      <dgm:spPr/>
      <dgm:t>
        <a:bodyPr/>
        <a:lstStyle/>
        <a:p>
          <a:endParaRPr lang="en-US"/>
        </a:p>
      </dgm:t>
    </dgm:pt>
    <dgm:pt modelId="{0FE860C3-4E6E-4AF6-AF1A-2A5B963808BB}" type="sibTrans" cxnId="{161097B8-F69E-44E2-97AC-53351B70EFD1}">
      <dgm:prSet/>
      <dgm:spPr/>
      <dgm:t>
        <a:bodyPr/>
        <a:lstStyle/>
        <a:p>
          <a:endParaRPr lang="en-US"/>
        </a:p>
      </dgm:t>
    </dgm:pt>
    <dgm:pt modelId="{4790A996-3CCC-4E0B-B9C5-BADACFBDEC42}" type="pres">
      <dgm:prSet presAssocID="{D10EFAD8-3871-4DE7-9668-1DE5E2AA8EE2}" presName="linear" presStyleCnt="0">
        <dgm:presLayoutVars>
          <dgm:animLvl val="lvl"/>
          <dgm:resizeHandles val="exact"/>
        </dgm:presLayoutVars>
      </dgm:prSet>
      <dgm:spPr/>
    </dgm:pt>
    <dgm:pt modelId="{22610BA2-D62A-423C-B4F1-9592E4481B88}" type="pres">
      <dgm:prSet presAssocID="{AC797F41-E07D-498A-9BFC-01A5A98D4B9C}" presName="parentText" presStyleLbl="node1" presStyleIdx="0" presStyleCnt="1" custLinFactNeighborX="0" custLinFactNeighborY="2611">
        <dgm:presLayoutVars>
          <dgm:chMax val="0"/>
          <dgm:bulletEnabled val="1"/>
        </dgm:presLayoutVars>
      </dgm:prSet>
      <dgm:spPr/>
    </dgm:pt>
  </dgm:ptLst>
  <dgm:cxnLst>
    <dgm:cxn modelId="{70990F0A-90E8-49D4-B4C6-1746D95DE3ED}" type="presOf" srcId="{AC797F41-E07D-498A-9BFC-01A5A98D4B9C}" destId="{22610BA2-D62A-423C-B4F1-9592E4481B88}" srcOrd="0" destOrd="0" presId="urn:microsoft.com/office/officeart/2005/8/layout/vList2"/>
    <dgm:cxn modelId="{6BF96594-133D-4C88-998A-992197ADE269}" type="presOf" srcId="{D10EFAD8-3871-4DE7-9668-1DE5E2AA8EE2}" destId="{4790A996-3CCC-4E0B-B9C5-BADACFBDEC42}" srcOrd="0" destOrd="0" presId="urn:microsoft.com/office/officeart/2005/8/layout/vList2"/>
    <dgm:cxn modelId="{161097B8-F69E-44E2-97AC-53351B70EFD1}" srcId="{D10EFAD8-3871-4DE7-9668-1DE5E2AA8EE2}" destId="{AC797F41-E07D-498A-9BFC-01A5A98D4B9C}" srcOrd="0" destOrd="0" parTransId="{B40638FE-AFC6-49EA-8B83-1BE5D55FBEC7}" sibTransId="{0FE860C3-4E6E-4AF6-AF1A-2A5B963808BB}"/>
    <dgm:cxn modelId="{DE9FB5FC-ADAC-4EDB-B255-49815903B4DD}" type="presParOf" srcId="{4790A996-3CCC-4E0B-B9C5-BADACFBDEC42}" destId="{22610BA2-D62A-423C-B4F1-9592E4481B88}" srcOrd="0" destOrd="0" presId="urn:microsoft.com/office/officeart/2005/8/layout/vList2"/>
  </dgm:cxnLst>
  <dgm:bg/>
  <dgm:whole/>
  <dgm:extLst>
    <a:ext uri="http://schemas.microsoft.com/office/drawing/2008/diagram">
      <dsp:dataModelExt xmlns:dsp="http://schemas.microsoft.com/office/drawing/2008/diagram" relId="rId2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026A78-0240-4A58-99A2-F1FB4341EC95}"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F39F4E8-FCCF-402F-B62D-00C989942866}">
      <dgm:prSet/>
      <dgm:spPr/>
      <dgm:t>
        <a:bodyPr/>
        <a:lstStyle/>
        <a:p>
          <a:r>
            <a:rPr lang="en-US" b="1" i="0" dirty="0"/>
            <a:t>Task 2: </a:t>
          </a:r>
          <a:endParaRPr lang="en-US" dirty="0"/>
        </a:p>
      </dgm:t>
    </dgm:pt>
    <dgm:pt modelId="{F897B186-1FA6-4D37-99FD-5B1FB72B074C}" type="parTrans" cxnId="{A83E7A3E-A2C6-489E-BE9E-9404EDF205EA}">
      <dgm:prSet/>
      <dgm:spPr/>
      <dgm:t>
        <a:bodyPr/>
        <a:lstStyle/>
        <a:p>
          <a:endParaRPr lang="en-US"/>
        </a:p>
      </dgm:t>
    </dgm:pt>
    <dgm:pt modelId="{50479436-D0D0-4C43-A9B0-691B05157EC8}" type="sibTrans" cxnId="{A83E7A3E-A2C6-489E-BE9E-9404EDF205EA}">
      <dgm:prSet/>
      <dgm:spPr/>
      <dgm:t>
        <a:bodyPr/>
        <a:lstStyle/>
        <a:p>
          <a:endParaRPr lang="en-US"/>
        </a:p>
      </dgm:t>
    </dgm:pt>
    <dgm:pt modelId="{C1DEED4D-F23F-4ED0-B8E5-F378BBEB4863}">
      <dgm:prSet/>
      <dgm:spPr/>
      <dgm:t>
        <a:bodyPr/>
        <a:lstStyle/>
        <a:p>
          <a:r>
            <a:rPr lang="en-US" b="1" i="0" dirty="0"/>
            <a:t>A). Compare Logistic regression  model performance with and without PCA processing </a:t>
          </a:r>
          <a:endParaRPr lang="en-US" dirty="0"/>
        </a:p>
      </dgm:t>
    </dgm:pt>
    <dgm:pt modelId="{A25126F1-1EE3-4D55-BEB1-20B122C0D594}" type="parTrans" cxnId="{D99AF48E-BA0C-4F72-9FEE-93AC3619E55E}">
      <dgm:prSet/>
      <dgm:spPr/>
      <dgm:t>
        <a:bodyPr/>
        <a:lstStyle/>
        <a:p>
          <a:endParaRPr lang="en-US"/>
        </a:p>
      </dgm:t>
    </dgm:pt>
    <dgm:pt modelId="{C6E4065F-169D-4173-BFF9-2639C2B42441}" type="sibTrans" cxnId="{D99AF48E-BA0C-4F72-9FEE-93AC3619E55E}">
      <dgm:prSet/>
      <dgm:spPr/>
      <dgm:t>
        <a:bodyPr/>
        <a:lstStyle/>
        <a:p>
          <a:endParaRPr lang="en-US"/>
        </a:p>
      </dgm:t>
    </dgm:pt>
    <dgm:pt modelId="{24BC90C9-A742-4C62-9CBC-A8B84F14EBCE}" type="pres">
      <dgm:prSet presAssocID="{1E026A78-0240-4A58-99A2-F1FB4341EC95}" presName="linear" presStyleCnt="0">
        <dgm:presLayoutVars>
          <dgm:animLvl val="lvl"/>
          <dgm:resizeHandles val="exact"/>
        </dgm:presLayoutVars>
      </dgm:prSet>
      <dgm:spPr/>
    </dgm:pt>
    <dgm:pt modelId="{2568C5A5-9176-4BFC-9D9D-ED4985D13675}" type="pres">
      <dgm:prSet presAssocID="{7F39F4E8-FCCF-402F-B62D-00C989942866}" presName="parentText" presStyleLbl="node1" presStyleIdx="0" presStyleCnt="2" custFlipHor="1" custScaleX="7840" custLinFactY="52502" custLinFactNeighborX="-28788" custLinFactNeighborY="100000">
        <dgm:presLayoutVars>
          <dgm:chMax val="0"/>
          <dgm:bulletEnabled val="1"/>
        </dgm:presLayoutVars>
      </dgm:prSet>
      <dgm:spPr/>
    </dgm:pt>
    <dgm:pt modelId="{E916F381-8129-4A12-B617-EE7347D2A106}" type="pres">
      <dgm:prSet presAssocID="{50479436-D0D0-4C43-A9B0-691B05157EC8}" presName="spacer" presStyleCnt="0"/>
      <dgm:spPr/>
    </dgm:pt>
    <dgm:pt modelId="{EE62B8B3-5D39-475C-9DC8-279180165066}" type="pres">
      <dgm:prSet presAssocID="{C1DEED4D-F23F-4ED0-B8E5-F378BBEB4863}" presName="parentText" presStyleLbl="node1" presStyleIdx="1" presStyleCnt="2" custScaleX="51840" custScaleY="240027" custLinFactY="-100000" custLinFactNeighborX="1428" custLinFactNeighborY="-136688">
        <dgm:presLayoutVars>
          <dgm:chMax val="0"/>
          <dgm:bulletEnabled val="1"/>
        </dgm:presLayoutVars>
      </dgm:prSet>
      <dgm:spPr/>
    </dgm:pt>
  </dgm:ptLst>
  <dgm:cxnLst>
    <dgm:cxn modelId="{F7B49F30-3230-4E95-9D08-B75EF2F48A5B}" type="presOf" srcId="{7F39F4E8-FCCF-402F-B62D-00C989942866}" destId="{2568C5A5-9176-4BFC-9D9D-ED4985D13675}" srcOrd="0" destOrd="0" presId="urn:microsoft.com/office/officeart/2005/8/layout/vList2"/>
    <dgm:cxn modelId="{A83E7A3E-A2C6-489E-BE9E-9404EDF205EA}" srcId="{1E026A78-0240-4A58-99A2-F1FB4341EC95}" destId="{7F39F4E8-FCCF-402F-B62D-00C989942866}" srcOrd="0" destOrd="0" parTransId="{F897B186-1FA6-4D37-99FD-5B1FB72B074C}" sibTransId="{50479436-D0D0-4C43-A9B0-691B05157EC8}"/>
    <dgm:cxn modelId="{8178AD61-2079-4323-A217-0F2A0B2D502F}" type="presOf" srcId="{1E026A78-0240-4A58-99A2-F1FB4341EC95}" destId="{24BC90C9-A742-4C62-9CBC-A8B84F14EBCE}" srcOrd="0" destOrd="0" presId="urn:microsoft.com/office/officeart/2005/8/layout/vList2"/>
    <dgm:cxn modelId="{D99AF48E-BA0C-4F72-9FEE-93AC3619E55E}" srcId="{1E026A78-0240-4A58-99A2-F1FB4341EC95}" destId="{C1DEED4D-F23F-4ED0-B8E5-F378BBEB4863}" srcOrd="1" destOrd="0" parTransId="{A25126F1-1EE3-4D55-BEB1-20B122C0D594}" sibTransId="{C6E4065F-169D-4173-BFF9-2639C2B42441}"/>
    <dgm:cxn modelId="{E77CF9B1-8CD3-4208-956A-35FDB52F116E}" type="presOf" srcId="{C1DEED4D-F23F-4ED0-B8E5-F378BBEB4863}" destId="{EE62B8B3-5D39-475C-9DC8-279180165066}" srcOrd="0" destOrd="0" presId="urn:microsoft.com/office/officeart/2005/8/layout/vList2"/>
    <dgm:cxn modelId="{AC7A80D2-0C98-42B8-B602-5B3156DCFBF2}" type="presParOf" srcId="{24BC90C9-A742-4C62-9CBC-A8B84F14EBCE}" destId="{2568C5A5-9176-4BFC-9D9D-ED4985D13675}" srcOrd="0" destOrd="0" presId="urn:microsoft.com/office/officeart/2005/8/layout/vList2"/>
    <dgm:cxn modelId="{AD836C8D-F9D5-48A3-8A34-6AD8B5F8D5BD}" type="presParOf" srcId="{24BC90C9-A742-4C62-9CBC-A8B84F14EBCE}" destId="{E916F381-8129-4A12-B617-EE7347D2A106}" srcOrd="1" destOrd="0" presId="urn:microsoft.com/office/officeart/2005/8/layout/vList2"/>
    <dgm:cxn modelId="{21E81581-CED9-4507-A9F5-B54084E7299E}" type="presParOf" srcId="{24BC90C9-A742-4C62-9CBC-A8B84F14EBCE}" destId="{EE62B8B3-5D39-475C-9DC8-27918016506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9AEC9D4-BA82-49C5-A1EA-83ED1A0DE42B}"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98F89A0E-AC99-4971-AE52-5CC2FBC00169}">
      <dgm:prSet/>
      <dgm:spPr/>
      <dgm:t>
        <a:bodyPr/>
        <a:lstStyle/>
        <a:p>
          <a:r>
            <a:rPr lang="en-US" dirty="0"/>
            <a:t>Performance l</a:t>
          </a:r>
          <a:r>
            <a:rPr lang="en-US" b="0" i="0" dirty="0"/>
            <a:t>ogistic regression o</a:t>
          </a:r>
          <a:r>
            <a:rPr lang="en-US" dirty="0"/>
            <a:t>f the model without PCA</a:t>
          </a:r>
        </a:p>
      </dgm:t>
    </dgm:pt>
    <dgm:pt modelId="{5B1FF22D-2E22-41E4-AC60-B90273F96277}" type="parTrans" cxnId="{9F7FAF49-F863-4943-A9DB-A592362C45BB}">
      <dgm:prSet/>
      <dgm:spPr/>
      <dgm:t>
        <a:bodyPr/>
        <a:lstStyle/>
        <a:p>
          <a:endParaRPr lang="en-US"/>
        </a:p>
      </dgm:t>
    </dgm:pt>
    <dgm:pt modelId="{61EDCF00-9BD1-4335-A8A0-33BE82AE30E9}" type="sibTrans" cxnId="{9F7FAF49-F863-4943-A9DB-A592362C45BB}">
      <dgm:prSet/>
      <dgm:spPr/>
      <dgm:t>
        <a:bodyPr/>
        <a:lstStyle/>
        <a:p>
          <a:endParaRPr lang="en-US"/>
        </a:p>
      </dgm:t>
    </dgm:pt>
    <dgm:pt modelId="{689E9153-45BC-48BE-9539-867197104065}" type="pres">
      <dgm:prSet presAssocID="{49AEC9D4-BA82-49C5-A1EA-83ED1A0DE42B}" presName="linear" presStyleCnt="0">
        <dgm:presLayoutVars>
          <dgm:animLvl val="lvl"/>
          <dgm:resizeHandles val="exact"/>
        </dgm:presLayoutVars>
      </dgm:prSet>
      <dgm:spPr/>
    </dgm:pt>
    <dgm:pt modelId="{67865310-726D-4266-AE3F-2169AC84850E}" type="pres">
      <dgm:prSet presAssocID="{98F89A0E-AC99-4971-AE52-5CC2FBC00169}" presName="parentText" presStyleLbl="node1" presStyleIdx="0" presStyleCnt="1">
        <dgm:presLayoutVars>
          <dgm:chMax val="0"/>
          <dgm:bulletEnabled val="1"/>
        </dgm:presLayoutVars>
      </dgm:prSet>
      <dgm:spPr/>
    </dgm:pt>
  </dgm:ptLst>
  <dgm:cxnLst>
    <dgm:cxn modelId="{9F7FAF49-F863-4943-A9DB-A592362C45BB}" srcId="{49AEC9D4-BA82-49C5-A1EA-83ED1A0DE42B}" destId="{98F89A0E-AC99-4971-AE52-5CC2FBC00169}" srcOrd="0" destOrd="0" parTransId="{5B1FF22D-2E22-41E4-AC60-B90273F96277}" sibTransId="{61EDCF00-9BD1-4335-A8A0-33BE82AE30E9}"/>
    <dgm:cxn modelId="{C3DC94C3-D998-4867-8803-A4B4E33E9A9C}" type="presOf" srcId="{49AEC9D4-BA82-49C5-A1EA-83ED1A0DE42B}" destId="{689E9153-45BC-48BE-9539-867197104065}" srcOrd="0" destOrd="0" presId="urn:microsoft.com/office/officeart/2005/8/layout/vList2"/>
    <dgm:cxn modelId="{F83C4CE0-E594-4D56-A7DC-17636609C35D}" type="presOf" srcId="{98F89A0E-AC99-4971-AE52-5CC2FBC00169}" destId="{67865310-726D-4266-AE3F-2169AC84850E}" srcOrd="0" destOrd="0" presId="urn:microsoft.com/office/officeart/2005/8/layout/vList2"/>
    <dgm:cxn modelId="{6A33DAAC-001F-4027-B26C-6F3259E9F429}" type="presParOf" srcId="{689E9153-45BC-48BE-9539-867197104065}" destId="{67865310-726D-4266-AE3F-2169AC84850E}"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9AEC9D4-BA82-49C5-A1EA-83ED1A0DE42B}"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98F89A0E-AC99-4971-AE52-5CC2FBC00169}">
      <dgm:prSet/>
      <dgm:spPr/>
      <dgm:t>
        <a:bodyPr/>
        <a:lstStyle/>
        <a:p>
          <a:pPr algn="r"/>
          <a:r>
            <a:rPr lang="en-US" dirty="0"/>
            <a:t>Performance l</a:t>
          </a:r>
          <a:r>
            <a:rPr lang="en-US" b="0" i="0" dirty="0"/>
            <a:t>ogistic regression </a:t>
          </a:r>
          <a:r>
            <a:rPr lang="en-US" dirty="0"/>
            <a:t>of the model with PCA</a:t>
          </a:r>
        </a:p>
      </dgm:t>
    </dgm:pt>
    <dgm:pt modelId="{5B1FF22D-2E22-41E4-AC60-B90273F96277}" type="parTrans" cxnId="{9F7FAF49-F863-4943-A9DB-A592362C45BB}">
      <dgm:prSet/>
      <dgm:spPr/>
      <dgm:t>
        <a:bodyPr/>
        <a:lstStyle/>
        <a:p>
          <a:endParaRPr lang="en-US"/>
        </a:p>
      </dgm:t>
    </dgm:pt>
    <dgm:pt modelId="{61EDCF00-9BD1-4335-A8A0-33BE82AE30E9}" type="sibTrans" cxnId="{9F7FAF49-F863-4943-A9DB-A592362C45BB}">
      <dgm:prSet/>
      <dgm:spPr/>
      <dgm:t>
        <a:bodyPr/>
        <a:lstStyle/>
        <a:p>
          <a:endParaRPr lang="en-US"/>
        </a:p>
      </dgm:t>
    </dgm:pt>
    <dgm:pt modelId="{689E9153-45BC-48BE-9539-867197104065}" type="pres">
      <dgm:prSet presAssocID="{49AEC9D4-BA82-49C5-A1EA-83ED1A0DE42B}" presName="linear" presStyleCnt="0">
        <dgm:presLayoutVars>
          <dgm:animLvl val="lvl"/>
          <dgm:resizeHandles val="exact"/>
        </dgm:presLayoutVars>
      </dgm:prSet>
      <dgm:spPr/>
    </dgm:pt>
    <dgm:pt modelId="{67865310-726D-4266-AE3F-2169AC84850E}" type="pres">
      <dgm:prSet presAssocID="{98F89A0E-AC99-4971-AE52-5CC2FBC00169}" presName="parentText" presStyleLbl="node1" presStyleIdx="0" presStyleCnt="1" custLinFactNeighborY="517">
        <dgm:presLayoutVars>
          <dgm:chMax val="0"/>
          <dgm:bulletEnabled val="1"/>
        </dgm:presLayoutVars>
      </dgm:prSet>
      <dgm:spPr/>
    </dgm:pt>
  </dgm:ptLst>
  <dgm:cxnLst>
    <dgm:cxn modelId="{9F7FAF49-F863-4943-A9DB-A592362C45BB}" srcId="{49AEC9D4-BA82-49C5-A1EA-83ED1A0DE42B}" destId="{98F89A0E-AC99-4971-AE52-5CC2FBC00169}" srcOrd="0" destOrd="0" parTransId="{5B1FF22D-2E22-41E4-AC60-B90273F96277}" sibTransId="{61EDCF00-9BD1-4335-A8A0-33BE82AE30E9}"/>
    <dgm:cxn modelId="{C3DC94C3-D998-4867-8803-A4B4E33E9A9C}" type="presOf" srcId="{49AEC9D4-BA82-49C5-A1EA-83ED1A0DE42B}" destId="{689E9153-45BC-48BE-9539-867197104065}" srcOrd="0" destOrd="0" presId="urn:microsoft.com/office/officeart/2005/8/layout/vList2"/>
    <dgm:cxn modelId="{F83C4CE0-E594-4D56-A7DC-17636609C35D}" type="presOf" srcId="{98F89A0E-AC99-4971-AE52-5CC2FBC00169}" destId="{67865310-726D-4266-AE3F-2169AC84850E}" srcOrd="0" destOrd="0" presId="urn:microsoft.com/office/officeart/2005/8/layout/vList2"/>
    <dgm:cxn modelId="{6A33DAAC-001F-4027-B26C-6F3259E9F429}" type="presParOf" srcId="{689E9153-45BC-48BE-9539-867197104065}" destId="{67865310-726D-4266-AE3F-2169AC84850E}" srcOrd="0"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A5AE4E8-E588-4F60-85A3-44022B1CC0C5}"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4D6818ED-C3CF-455F-A695-87877220AF14}">
      <dgm:prSet custT="1"/>
      <dgm:spPr/>
      <dgm:t>
        <a:bodyPr/>
        <a:lstStyle/>
        <a:p>
          <a:r>
            <a:rPr lang="en-US" sz="1200" dirty="0"/>
            <a:t>Checking correlated features</a:t>
          </a:r>
        </a:p>
      </dgm:t>
    </dgm:pt>
    <dgm:pt modelId="{954B4ECD-5E22-471A-853F-342B9157BC98}" type="parTrans" cxnId="{3C67D261-ECE2-4DA3-A795-AA94EE1145A7}">
      <dgm:prSet/>
      <dgm:spPr/>
      <dgm:t>
        <a:bodyPr/>
        <a:lstStyle/>
        <a:p>
          <a:endParaRPr lang="en-US"/>
        </a:p>
      </dgm:t>
    </dgm:pt>
    <dgm:pt modelId="{B429B6A6-0AF1-4877-A97F-7E10FE007577}" type="sibTrans" cxnId="{3C67D261-ECE2-4DA3-A795-AA94EE1145A7}">
      <dgm:prSet/>
      <dgm:spPr/>
      <dgm:t>
        <a:bodyPr/>
        <a:lstStyle/>
        <a:p>
          <a:endParaRPr lang="en-US"/>
        </a:p>
      </dgm:t>
    </dgm:pt>
    <dgm:pt modelId="{A9F7443A-C3A1-4460-BEE6-0A6FAF25CF00}" type="pres">
      <dgm:prSet presAssocID="{6A5AE4E8-E588-4F60-85A3-44022B1CC0C5}" presName="linear" presStyleCnt="0">
        <dgm:presLayoutVars>
          <dgm:animLvl val="lvl"/>
          <dgm:resizeHandles val="exact"/>
        </dgm:presLayoutVars>
      </dgm:prSet>
      <dgm:spPr/>
    </dgm:pt>
    <dgm:pt modelId="{1A2F748E-047B-4AD4-B8EF-5C6C54D255E8}" type="pres">
      <dgm:prSet presAssocID="{4D6818ED-C3CF-455F-A695-87877220AF14}" presName="parentText" presStyleLbl="node1" presStyleIdx="0" presStyleCnt="1" custLinFactNeighborY="1685">
        <dgm:presLayoutVars>
          <dgm:chMax val="0"/>
          <dgm:bulletEnabled val="1"/>
        </dgm:presLayoutVars>
      </dgm:prSet>
      <dgm:spPr/>
    </dgm:pt>
  </dgm:ptLst>
  <dgm:cxnLst>
    <dgm:cxn modelId="{3C67D261-ECE2-4DA3-A795-AA94EE1145A7}" srcId="{6A5AE4E8-E588-4F60-85A3-44022B1CC0C5}" destId="{4D6818ED-C3CF-455F-A695-87877220AF14}" srcOrd="0" destOrd="0" parTransId="{954B4ECD-5E22-471A-853F-342B9157BC98}" sibTransId="{B429B6A6-0AF1-4877-A97F-7E10FE007577}"/>
    <dgm:cxn modelId="{2150A971-D0C3-4B43-A5FA-9D9933BBEDE1}" type="presOf" srcId="{6A5AE4E8-E588-4F60-85A3-44022B1CC0C5}" destId="{A9F7443A-C3A1-4460-BEE6-0A6FAF25CF00}" srcOrd="0" destOrd="0" presId="urn:microsoft.com/office/officeart/2005/8/layout/vList2"/>
    <dgm:cxn modelId="{DD83FDBC-7637-4774-8C66-5F9069973B70}" type="presOf" srcId="{4D6818ED-C3CF-455F-A695-87877220AF14}" destId="{1A2F748E-047B-4AD4-B8EF-5C6C54D255E8}" srcOrd="0" destOrd="0" presId="urn:microsoft.com/office/officeart/2005/8/layout/vList2"/>
    <dgm:cxn modelId="{96A77BAB-482B-4F23-9073-FAE0FB8D178F}" type="presParOf" srcId="{A9F7443A-C3A1-4460-BEE6-0A6FAF25CF00}" destId="{1A2F748E-047B-4AD4-B8EF-5C6C54D255E8}" srcOrd="0"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A2861D1-915F-4213-9FA4-476D2B3CBD23}"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8855D657-6568-4FAB-806B-F1B6605F8A8E}">
      <dgm:prSet/>
      <dgm:spPr/>
      <dgm:t>
        <a:bodyPr/>
        <a:lstStyle/>
        <a:p>
          <a:r>
            <a:rPr lang="en-US" dirty="0"/>
            <a:t>Analyzing</a:t>
          </a:r>
        </a:p>
      </dgm:t>
    </dgm:pt>
    <dgm:pt modelId="{B379CFA9-B02E-44A3-86F8-69F7485D4ED0}" type="parTrans" cxnId="{48D03DE8-74B9-4B08-9356-A3F3468705C0}">
      <dgm:prSet/>
      <dgm:spPr/>
      <dgm:t>
        <a:bodyPr/>
        <a:lstStyle/>
        <a:p>
          <a:endParaRPr lang="en-US"/>
        </a:p>
      </dgm:t>
    </dgm:pt>
    <dgm:pt modelId="{05CF09D8-CFBC-4906-A7C9-8F2C4108BD13}" type="sibTrans" cxnId="{48D03DE8-74B9-4B08-9356-A3F3468705C0}">
      <dgm:prSet/>
      <dgm:spPr/>
      <dgm:t>
        <a:bodyPr/>
        <a:lstStyle/>
        <a:p>
          <a:endParaRPr lang="en-US"/>
        </a:p>
      </dgm:t>
    </dgm:pt>
    <dgm:pt modelId="{84CE46D5-47AB-4D9D-8961-132C88B8AF57}" type="pres">
      <dgm:prSet presAssocID="{3A2861D1-915F-4213-9FA4-476D2B3CBD23}" presName="linear" presStyleCnt="0">
        <dgm:presLayoutVars>
          <dgm:animLvl val="lvl"/>
          <dgm:resizeHandles val="exact"/>
        </dgm:presLayoutVars>
      </dgm:prSet>
      <dgm:spPr/>
    </dgm:pt>
    <dgm:pt modelId="{93CA069D-0797-45C8-8254-6B4DD3EA45A2}" type="pres">
      <dgm:prSet presAssocID="{8855D657-6568-4FAB-806B-F1B6605F8A8E}" presName="parentText" presStyleLbl="node1" presStyleIdx="0" presStyleCnt="1" custLinFactNeighborX="-6996" custLinFactNeighborY="10202">
        <dgm:presLayoutVars>
          <dgm:chMax val="0"/>
          <dgm:bulletEnabled val="1"/>
        </dgm:presLayoutVars>
      </dgm:prSet>
      <dgm:spPr/>
    </dgm:pt>
  </dgm:ptLst>
  <dgm:cxnLst>
    <dgm:cxn modelId="{54F4C9AF-04E2-43F7-BB54-A40BA7ADADE7}" type="presOf" srcId="{3A2861D1-915F-4213-9FA4-476D2B3CBD23}" destId="{84CE46D5-47AB-4D9D-8961-132C88B8AF57}" srcOrd="0" destOrd="0" presId="urn:microsoft.com/office/officeart/2005/8/layout/vList2"/>
    <dgm:cxn modelId="{5DBAAFDB-55E4-482C-88DC-7549EC7CEB49}" type="presOf" srcId="{8855D657-6568-4FAB-806B-F1B6605F8A8E}" destId="{93CA069D-0797-45C8-8254-6B4DD3EA45A2}" srcOrd="0" destOrd="0" presId="urn:microsoft.com/office/officeart/2005/8/layout/vList2"/>
    <dgm:cxn modelId="{48D03DE8-74B9-4B08-9356-A3F3468705C0}" srcId="{3A2861D1-915F-4213-9FA4-476D2B3CBD23}" destId="{8855D657-6568-4FAB-806B-F1B6605F8A8E}" srcOrd="0" destOrd="0" parTransId="{B379CFA9-B02E-44A3-86F8-69F7485D4ED0}" sibTransId="{05CF09D8-CFBC-4906-A7C9-8F2C4108BD13}"/>
    <dgm:cxn modelId="{16FD2F63-0E1A-4D21-83F7-84D9F033BCA9}" type="presParOf" srcId="{84CE46D5-47AB-4D9D-8961-132C88B8AF57}" destId="{93CA069D-0797-45C8-8254-6B4DD3EA45A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2141FBF-036F-4282-8071-7D69B40134F7}"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50A7FFF5-79EC-45D4-B517-A86FEC935D73}">
      <dgm:prSet custT="1"/>
      <dgm:spPr/>
      <dgm:t>
        <a:bodyPr/>
        <a:lstStyle/>
        <a:p>
          <a:r>
            <a:rPr lang="en-US" sz="1400" dirty="0"/>
            <a:t>ROC Curve for model without PCA</a:t>
          </a:r>
        </a:p>
      </dgm:t>
    </dgm:pt>
    <dgm:pt modelId="{A6D367D1-74A1-4D3F-A2CA-FA62E6FE05A9}" type="parTrans" cxnId="{112E48C6-FC51-4131-B691-C3F208F767FB}">
      <dgm:prSet/>
      <dgm:spPr/>
      <dgm:t>
        <a:bodyPr/>
        <a:lstStyle/>
        <a:p>
          <a:endParaRPr lang="en-US"/>
        </a:p>
      </dgm:t>
    </dgm:pt>
    <dgm:pt modelId="{1E6F71E5-D70E-4011-A23C-8B795B0AB543}" type="sibTrans" cxnId="{112E48C6-FC51-4131-B691-C3F208F767FB}">
      <dgm:prSet/>
      <dgm:spPr/>
      <dgm:t>
        <a:bodyPr/>
        <a:lstStyle/>
        <a:p>
          <a:endParaRPr lang="en-US"/>
        </a:p>
      </dgm:t>
    </dgm:pt>
    <dgm:pt modelId="{C4A0E2C7-D84C-4A9C-A43D-D983ECAF1ECC}" type="pres">
      <dgm:prSet presAssocID="{E2141FBF-036F-4282-8071-7D69B40134F7}" presName="linear" presStyleCnt="0">
        <dgm:presLayoutVars>
          <dgm:animLvl val="lvl"/>
          <dgm:resizeHandles val="exact"/>
        </dgm:presLayoutVars>
      </dgm:prSet>
      <dgm:spPr/>
    </dgm:pt>
    <dgm:pt modelId="{DB810C8E-ECFE-4F57-A7C6-1826D10D05CC}" type="pres">
      <dgm:prSet presAssocID="{50A7FFF5-79EC-45D4-B517-A86FEC935D73}" presName="parentText" presStyleLbl="node1" presStyleIdx="0" presStyleCnt="1" custScaleX="100000" custScaleY="167228" custLinFactNeighborX="20902" custLinFactNeighborY="11195">
        <dgm:presLayoutVars>
          <dgm:chMax val="0"/>
          <dgm:bulletEnabled val="1"/>
        </dgm:presLayoutVars>
      </dgm:prSet>
      <dgm:spPr/>
    </dgm:pt>
  </dgm:ptLst>
  <dgm:cxnLst>
    <dgm:cxn modelId="{112E48C6-FC51-4131-B691-C3F208F767FB}" srcId="{E2141FBF-036F-4282-8071-7D69B40134F7}" destId="{50A7FFF5-79EC-45D4-B517-A86FEC935D73}" srcOrd="0" destOrd="0" parTransId="{A6D367D1-74A1-4D3F-A2CA-FA62E6FE05A9}" sibTransId="{1E6F71E5-D70E-4011-A23C-8B795B0AB543}"/>
    <dgm:cxn modelId="{C14567E3-2A25-435B-92AE-582134CCDF57}" type="presOf" srcId="{E2141FBF-036F-4282-8071-7D69B40134F7}" destId="{C4A0E2C7-D84C-4A9C-A43D-D983ECAF1ECC}" srcOrd="0" destOrd="0" presId="urn:microsoft.com/office/officeart/2005/8/layout/vList2"/>
    <dgm:cxn modelId="{1E134CEC-0F47-48A8-9E7E-6A235DAA4EBA}" type="presOf" srcId="{50A7FFF5-79EC-45D4-B517-A86FEC935D73}" destId="{DB810C8E-ECFE-4F57-A7C6-1826D10D05CC}" srcOrd="0" destOrd="0" presId="urn:microsoft.com/office/officeart/2005/8/layout/vList2"/>
    <dgm:cxn modelId="{ED95C8CE-850D-4031-ACF6-C99D355A81BA}" type="presParOf" srcId="{C4A0E2C7-D84C-4A9C-A43D-D983ECAF1ECC}" destId="{DB810C8E-ECFE-4F57-A7C6-1826D10D05CC}"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18C724-C807-4B6B-81EC-C2FAD88A9390}">
      <dsp:nvSpPr>
        <dsp:cNvPr id="0" name=""/>
        <dsp:cNvSpPr/>
      </dsp:nvSpPr>
      <dsp:spPr>
        <a:xfrm>
          <a:off x="0" y="27578"/>
          <a:ext cx="4077256" cy="437888"/>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dirty="0">
              <a:latin typeface="+mn-lt"/>
            </a:rPr>
            <a:t>A). C</a:t>
          </a:r>
          <a:r>
            <a:rPr lang="en-US" sz="1200" b="1" i="0" kern="1200" dirty="0"/>
            <a:t>hoose number of principal components</a:t>
          </a:r>
        </a:p>
      </dsp:txBody>
      <dsp:txXfrm>
        <a:off x="21376" y="48954"/>
        <a:ext cx="4034504" cy="3951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A5CFD1-D1A0-4DFA-8721-BAF431E40AB5}">
      <dsp:nvSpPr>
        <dsp:cNvPr id="0" name=""/>
        <dsp:cNvSpPr/>
      </dsp:nvSpPr>
      <dsp:spPr>
        <a:xfrm>
          <a:off x="0" y="9250"/>
          <a:ext cx="775627" cy="3042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i="0" kern="1200" dirty="0">
              <a:latin typeface="+mn-lt"/>
            </a:rPr>
            <a:t>Task 1  </a:t>
          </a:r>
          <a:r>
            <a:rPr lang="en-US" sz="1300" b="0" i="0" kern="1200" dirty="0">
              <a:latin typeface="+mn-lt"/>
            </a:rPr>
            <a:t>	</a:t>
          </a:r>
        </a:p>
      </dsp:txBody>
      <dsp:txXfrm>
        <a:off x="14850" y="24100"/>
        <a:ext cx="745927" cy="274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0CD108-36AC-4DF4-BF6A-A24249194513}">
      <dsp:nvSpPr>
        <dsp:cNvPr id="0" name=""/>
        <dsp:cNvSpPr/>
      </dsp:nvSpPr>
      <dsp:spPr>
        <a:xfrm>
          <a:off x="0" y="3576"/>
          <a:ext cx="3208530" cy="3042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Visualize Principal Components</a:t>
          </a:r>
        </a:p>
      </dsp:txBody>
      <dsp:txXfrm>
        <a:off x="14850" y="18426"/>
        <a:ext cx="3178830" cy="274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0CD108-36AC-4DF4-BF6A-A24249194513}">
      <dsp:nvSpPr>
        <dsp:cNvPr id="0" name=""/>
        <dsp:cNvSpPr/>
      </dsp:nvSpPr>
      <dsp:spPr>
        <a:xfrm>
          <a:off x="0" y="3576"/>
          <a:ext cx="3208530" cy="3042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i="0" kern="1200" dirty="0"/>
            <a:t>Interpret biplot</a:t>
          </a:r>
          <a:endParaRPr lang="en-US" sz="1300" kern="1200" dirty="0"/>
        </a:p>
      </dsp:txBody>
      <dsp:txXfrm>
        <a:off x="14850" y="18426"/>
        <a:ext cx="3178830" cy="2745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A27E2-40D2-4C88-966D-4CD30693101B}">
      <dsp:nvSpPr>
        <dsp:cNvPr id="0" name=""/>
        <dsp:cNvSpPr/>
      </dsp:nvSpPr>
      <dsp:spPr>
        <a:xfrm>
          <a:off x="0" y="18965"/>
          <a:ext cx="881219" cy="3042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a:t>Note</a:t>
          </a:r>
          <a:r>
            <a:rPr lang="en-US" sz="1300" kern="1200"/>
            <a:t>:</a:t>
          </a:r>
        </a:p>
      </dsp:txBody>
      <dsp:txXfrm>
        <a:off x="14850" y="33815"/>
        <a:ext cx="851519" cy="2745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610BA2-D62A-423C-B4F1-9592E4481B88}">
      <dsp:nvSpPr>
        <dsp:cNvPr id="0" name=""/>
        <dsp:cNvSpPr/>
      </dsp:nvSpPr>
      <dsp:spPr>
        <a:xfrm>
          <a:off x="0" y="12223"/>
          <a:ext cx="4221825" cy="3510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Variables affecting PC</a:t>
          </a:r>
        </a:p>
      </dsp:txBody>
      <dsp:txXfrm>
        <a:off x="17134" y="29357"/>
        <a:ext cx="4187557" cy="3167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610BA2-D62A-423C-B4F1-9592E4481B88}">
      <dsp:nvSpPr>
        <dsp:cNvPr id="0" name=""/>
        <dsp:cNvSpPr/>
      </dsp:nvSpPr>
      <dsp:spPr>
        <a:xfrm>
          <a:off x="0" y="18330"/>
          <a:ext cx="4221825" cy="3510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Correlation between pairs of variables </a:t>
          </a:r>
        </a:p>
      </dsp:txBody>
      <dsp:txXfrm>
        <a:off x="17134" y="35464"/>
        <a:ext cx="4187557" cy="31673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68C5A5-9176-4BFC-9D9D-ED4985D13675}">
      <dsp:nvSpPr>
        <dsp:cNvPr id="0" name=""/>
        <dsp:cNvSpPr/>
      </dsp:nvSpPr>
      <dsp:spPr>
        <a:xfrm flipH="1">
          <a:off x="1937721" y="175030"/>
          <a:ext cx="878541" cy="2574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dirty="0"/>
            <a:t>Task 2: </a:t>
          </a:r>
          <a:endParaRPr lang="en-US" sz="1100" kern="1200" dirty="0"/>
        </a:p>
      </dsp:txBody>
      <dsp:txXfrm>
        <a:off x="1950286" y="187595"/>
        <a:ext cx="853411" cy="232270"/>
      </dsp:txXfrm>
    </dsp:sp>
    <dsp:sp modelId="{EE62B8B3-5D39-475C-9DC8-279180165066}">
      <dsp:nvSpPr>
        <dsp:cNvPr id="0" name=""/>
        <dsp:cNvSpPr/>
      </dsp:nvSpPr>
      <dsp:spPr>
        <a:xfrm>
          <a:off x="2858396" y="0"/>
          <a:ext cx="5809129" cy="617829"/>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dirty="0"/>
            <a:t>A). Compare Logistic regression  model performance with and without PCA processing </a:t>
          </a:r>
          <a:endParaRPr lang="en-US" sz="1100" kern="1200" dirty="0"/>
        </a:p>
      </dsp:txBody>
      <dsp:txXfrm>
        <a:off x="2888556" y="30160"/>
        <a:ext cx="5748809" cy="55750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865310-726D-4266-AE3F-2169AC84850E}">
      <dsp:nvSpPr>
        <dsp:cNvPr id="0" name=""/>
        <dsp:cNvSpPr/>
      </dsp:nvSpPr>
      <dsp:spPr>
        <a:xfrm>
          <a:off x="0" y="44266"/>
          <a:ext cx="3942123" cy="280799"/>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Performance l</a:t>
          </a:r>
          <a:r>
            <a:rPr lang="en-US" sz="1200" b="0" i="0" kern="1200" dirty="0"/>
            <a:t>ogistic regression o</a:t>
          </a:r>
          <a:r>
            <a:rPr lang="en-US" sz="1200" kern="1200" dirty="0"/>
            <a:t>f the model without PCA</a:t>
          </a:r>
        </a:p>
      </dsp:txBody>
      <dsp:txXfrm>
        <a:off x="13707" y="57973"/>
        <a:ext cx="3914709" cy="25338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865310-726D-4266-AE3F-2169AC84850E}">
      <dsp:nvSpPr>
        <dsp:cNvPr id="0" name=""/>
        <dsp:cNvSpPr/>
      </dsp:nvSpPr>
      <dsp:spPr>
        <a:xfrm>
          <a:off x="0" y="45717"/>
          <a:ext cx="3639669" cy="280799"/>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r" defTabSz="533400">
            <a:lnSpc>
              <a:spcPct val="90000"/>
            </a:lnSpc>
            <a:spcBef>
              <a:spcPct val="0"/>
            </a:spcBef>
            <a:spcAft>
              <a:spcPct val="35000"/>
            </a:spcAft>
            <a:buNone/>
          </a:pPr>
          <a:r>
            <a:rPr lang="en-US" sz="1200" kern="1200" dirty="0"/>
            <a:t>Performance l</a:t>
          </a:r>
          <a:r>
            <a:rPr lang="en-US" sz="1200" b="0" i="0" kern="1200" dirty="0"/>
            <a:t>ogistic regression </a:t>
          </a:r>
          <a:r>
            <a:rPr lang="en-US" sz="1200" kern="1200" dirty="0"/>
            <a:t>of the model with PCA</a:t>
          </a:r>
        </a:p>
      </dsp:txBody>
      <dsp:txXfrm>
        <a:off x="13707" y="59424"/>
        <a:ext cx="3612255" cy="25338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F748E-047B-4AD4-B8EF-5C6C54D255E8}">
      <dsp:nvSpPr>
        <dsp:cNvPr id="0" name=""/>
        <dsp:cNvSpPr/>
      </dsp:nvSpPr>
      <dsp:spPr>
        <a:xfrm>
          <a:off x="0" y="113"/>
          <a:ext cx="3474257" cy="262153"/>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Checking correlated features</a:t>
          </a:r>
        </a:p>
      </dsp:txBody>
      <dsp:txXfrm>
        <a:off x="12797" y="12910"/>
        <a:ext cx="3448663" cy="23655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CA069D-0797-45C8-8254-6B4DD3EA45A2}">
      <dsp:nvSpPr>
        <dsp:cNvPr id="0" name=""/>
        <dsp:cNvSpPr/>
      </dsp:nvSpPr>
      <dsp:spPr>
        <a:xfrm>
          <a:off x="0" y="18332"/>
          <a:ext cx="2686050" cy="351000"/>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Analyzing</a:t>
          </a:r>
        </a:p>
      </dsp:txBody>
      <dsp:txXfrm>
        <a:off x="17134" y="35466"/>
        <a:ext cx="2651782" cy="31673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810C8E-ECFE-4F57-A7C6-1826D10D05CC}">
      <dsp:nvSpPr>
        <dsp:cNvPr id="0" name=""/>
        <dsp:cNvSpPr/>
      </dsp:nvSpPr>
      <dsp:spPr>
        <a:xfrm>
          <a:off x="0" y="71640"/>
          <a:ext cx="3108960" cy="322518"/>
        </a:xfrm>
        <a:prstGeom prst="roundRect">
          <a:avLst/>
        </a:prstGeom>
        <a:gradFill rotWithShape="0">
          <a:gsLst>
            <a:gs pos="0">
              <a:schemeClr val="accent1">
                <a:hueOff val="0"/>
                <a:satOff val="0"/>
                <a:lumOff val="0"/>
                <a:alphaOff val="0"/>
                <a:tint val="98000"/>
                <a:lumMod val="110000"/>
              </a:schemeClr>
            </a:gs>
            <a:gs pos="84000">
              <a:schemeClr val="accent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ROC Curve for model without PCA</a:t>
          </a:r>
        </a:p>
      </dsp:txBody>
      <dsp:txXfrm>
        <a:off x="15744" y="87384"/>
        <a:ext cx="3077472" cy="2910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5/4/2022</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5/4/2022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5/4/2022</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image" Target="../media/image2.png"/><Relationship Id="rId12" Type="http://schemas.openxmlformats.org/officeDocument/2006/relationships/diagramData" Target="../diagrams/data2.xml"/><Relationship Id="rId17" Type="http://schemas.openxmlformats.org/officeDocument/2006/relationships/image" Target="../media/image7.png"/><Relationship Id="rId2" Type="http://schemas.openxmlformats.org/officeDocument/2006/relationships/diagramData" Target="../diagrams/data1.xml"/><Relationship Id="rId16" Type="http://schemas.microsoft.com/office/2007/relationships/diagramDrawing" Target="../diagrams/drawing2.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image" Target="../media/image6.png"/><Relationship Id="rId5" Type="http://schemas.openxmlformats.org/officeDocument/2006/relationships/diagramColors" Target="../diagrams/colors1.xml"/><Relationship Id="rId15" Type="http://schemas.openxmlformats.org/officeDocument/2006/relationships/diagramColors" Target="../diagrams/colors2.xml"/><Relationship Id="rId10" Type="http://schemas.openxmlformats.org/officeDocument/2006/relationships/image" Target="../media/image5.png"/><Relationship Id="rId4" Type="http://schemas.openxmlformats.org/officeDocument/2006/relationships/diagramQuickStyle" Target="../diagrams/quickStyle1.xml"/><Relationship Id="rId9" Type="http://schemas.openxmlformats.org/officeDocument/2006/relationships/image" Target="../media/image4.png"/><Relationship Id="rId1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diagramColors" Target="../diagrams/colors4.xml"/><Relationship Id="rId18" Type="http://schemas.openxmlformats.org/officeDocument/2006/relationships/diagramColors" Target="../diagrams/colors5.xml"/><Relationship Id="rId26" Type="http://schemas.openxmlformats.org/officeDocument/2006/relationships/diagramLayout" Target="../diagrams/layout7.xml"/><Relationship Id="rId3" Type="http://schemas.openxmlformats.org/officeDocument/2006/relationships/image" Target="../media/image9.png"/><Relationship Id="rId21" Type="http://schemas.openxmlformats.org/officeDocument/2006/relationships/diagramLayout" Target="../diagrams/layout6.xml"/><Relationship Id="rId7" Type="http://schemas.openxmlformats.org/officeDocument/2006/relationships/diagramQuickStyle" Target="../diagrams/quickStyle3.xml"/><Relationship Id="rId12" Type="http://schemas.openxmlformats.org/officeDocument/2006/relationships/diagramQuickStyle" Target="../diagrams/quickStyle4.xml"/><Relationship Id="rId17" Type="http://schemas.openxmlformats.org/officeDocument/2006/relationships/diagramQuickStyle" Target="../diagrams/quickStyle5.xml"/><Relationship Id="rId25" Type="http://schemas.openxmlformats.org/officeDocument/2006/relationships/diagramData" Target="../diagrams/data7.xml"/><Relationship Id="rId2" Type="http://schemas.openxmlformats.org/officeDocument/2006/relationships/image" Target="../media/image8.png"/><Relationship Id="rId16" Type="http://schemas.openxmlformats.org/officeDocument/2006/relationships/diagramLayout" Target="../diagrams/layout5.xml"/><Relationship Id="rId20" Type="http://schemas.openxmlformats.org/officeDocument/2006/relationships/diagramData" Target="../diagrams/data6.xml"/><Relationship Id="rId29" Type="http://schemas.microsoft.com/office/2007/relationships/diagramDrawing" Target="../diagrams/drawing7.xml"/><Relationship Id="rId1" Type="http://schemas.openxmlformats.org/officeDocument/2006/relationships/slideLayout" Target="../slideLayouts/slideLayout7.xml"/><Relationship Id="rId6" Type="http://schemas.openxmlformats.org/officeDocument/2006/relationships/diagramLayout" Target="../diagrams/layout3.xml"/><Relationship Id="rId11" Type="http://schemas.openxmlformats.org/officeDocument/2006/relationships/diagramLayout" Target="../diagrams/layout4.xml"/><Relationship Id="rId24" Type="http://schemas.microsoft.com/office/2007/relationships/diagramDrawing" Target="../diagrams/drawing6.xml"/><Relationship Id="rId5" Type="http://schemas.openxmlformats.org/officeDocument/2006/relationships/diagramData" Target="../diagrams/data3.xml"/><Relationship Id="rId15" Type="http://schemas.openxmlformats.org/officeDocument/2006/relationships/diagramData" Target="../diagrams/data5.xml"/><Relationship Id="rId23" Type="http://schemas.openxmlformats.org/officeDocument/2006/relationships/diagramColors" Target="../diagrams/colors6.xml"/><Relationship Id="rId28" Type="http://schemas.openxmlformats.org/officeDocument/2006/relationships/diagramColors" Target="../diagrams/colors7.xml"/><Relationship Id="rId10" Type="http://schemas.openxmlformats.org/officeDocument/2006/relationships/diagramData" Target="../diagrams/data4.xml"/><Relationship Id="rId19" Type="http://schemas.microsoft.com/office/2007/relationships/diagramDrawing" Target="../diagrams/drawing5.xml"/><Relationship Id="rId4" Type="http://schemas.openxmlformats.org/officeDocument/2006/relationships/image" Target="../media/image10.png"/><Relationship Id="rId9" Type="http://schemas.microsoft.com/office/2007/relationships/diagramDrawing" Target="../diagrams/drawing3.xml"/><Relationship Id="rId14" Type="http://schemas.microsoft.com/office/2007/relationships/diagramDrawing" Target="../diagrams/drawing4.xml"/><Relationship Id="rId22" Type="http://schemas.openxmlformats.org/officeDocument/2006/relationships/diagramQuickStyle" Target="../diagrams/quickStyle6.xml"/><Relationship Id="rId27" Type="http://schemas.openxmlformats.org/officeDocument/2006/relationships/diagramQuickStyle" Target="../diagrams/quickStyle7.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18" Type="http://schemas.openxmlformats.org/officeDocument/2006/relationships/image" Target="../media/image12.png"/><Relationship Id="rId3" Type="http://schemas.openxmlformats.org/officeDocument/2006/relationships/diagramLayout" Target="../diagrams/layout8.xml"/><Relationship Id="rId21" Type="http://schemas.openxmlformats.org/officeDocument/2006/relationships/diagramLayout" Target="../diagrams/layout11.xml"/><Relationship Id="rId7" Type="http://schemas.openxmlformats.org/officeDocument/2006/relationships/image" Target="../media/image11.png"/><Relationship Id="rId12" Type="http://schemas.microsoft.com/office/2007/relationships/diagramDrawing" Target="../diagrams/drawing9.xml"/><Relationship Id="rId17" Type="http://schemas.microsoft.com/office/2007/relationships/diagramDrawing" Target="../diagrams/drawing10.xml"/><Relationship Id="rId2" Type="http://schemas.openxmlformats.org/officeDocument/2006/relationships/diagramData" Target="../diagrams/data8.xml"/><Relationship Id="rId16" Type="http://schemas.openxmlformats.org/officeDocument/2006/relationships/diagramColors" Target="../diagrams/colors10.xml"/><Relationship Id="rId20"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8.xml"/><Relationship Id="rId11" Type="http://schemas.openxmlformats.org/officeDocument/2006/relationships/diagramColors" Target="../diagrams/colors9.xml"/><Relationship Id="rId24" Type="http://schemas.microsoft.com/office/2007/relationships/diagramDrawing" Target="../diagrams/drawing11.xml"/><Relationship Id="rId5" Type="http://schemas.openxmlformats.org/officeDocument/2006/relationships/diagramColors" Target="../diagrams/colors8.xml"/><Relationship Id="rId15" Type="http://schemas.openxmlformats.org/officeDocument/2006/relationships/diagramQuickStyle" Target="../diagrams/quickStyle10.xml"/><Relationship Id="rId23" Type="http://schemas.openxmlformats.org/officeDocument/2006/relationships/diagramColors" Target="../diagrams/colors11.xml"/><Relationship Id="rId10" Type="http://schemas.openxmlformats.org/officeDocument/2006/relationships/diagramQuickStyle" Target="../diagrams/quickStyle9.xml"/><Relationship Id="rId19" Type="http://schemas.openxmlformats.org/officeDocument/2006/relationships/image" Target="../media/image13.png"/><Relationship Id="rId4" Type="http://schemas.openxmlformats.org/officeDocument/2006/relationships/diagramQuickStyle" Target="../diagrams/quickStyle8.xml"/><Relationship Id="rId9" Type="http://schemas.openxmlformats.org/officeDocument/2006/relationships/diagramLayout" Target="../diagrams/layout9.xml"/><Relationship Id="rId14" Type="http://schemas.openxmlformats.org/officeDocument/2006/relationships/diagramLayout" Target="../diagrams/layout10.xml"/><Relationship Id="rId22" Type="http://schemas.openxmlformats.org/officeDocument/2006/relationships/diagramQuickStyle" Target="../diagrams/quickStyle11.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12" Type="http://schemas.openxmlformats.org/officeDocument/2006/relationships/image" Target="../media/image14.jpg"/><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3" name="Title 1">
            <a:extLst>
              <a:ext uri="{FF2B5EF4-FFF2-40B4-BE49-F238E27FC236}">
                <a16:creationId xmlns:a16="http://schemas.microsoft.com/office/drawing/2014/main" id="{440CCD46-240E-43B2-98C0-811A206D619F}"/>
              </a:ext>
            </a:extLst>
          </p:cNvPr>
          <p:cNvSpPr>
            <a:spLocks noGrp="1"/>
          </p:cNvSpPr>
          <p:nvPr>
            <p:ph type="ctrTitle"/>
          </p:nvPr>
        </p:nvSpPr>
        <p:spPr>
          <a:xfrm>
            <a:off x="581191" y="4572002"/>
            <a:ext cx="10993549" cy="895244"/>
          </a:xfrm>
        </p:spPr>
        <p:txBody>
          <a:bodyPr>
            <a:noAutofit/>
          </a:bodyPr>
          <a:lstStyle/>
          <a:p>
            <a:r>
              <a:rPr lang="en-US" sz="5400" b="1" dirty="0">
                <a:solidFill>
                  <a:schemeClr val="bg1"/>
                </a:solidFill>
              </a:rPr>
              <a:t>Applied</a:t>
            </a:r>
            <a:r>
              <a:rPr lang="en-US" sz="5400" dirty="0">
                <a:solidFill>
                  <a:schemeClr val="bg1"/>
                </a:solidFill>
              </a:rPr>
              <a:t> </a:t>
            </a:r>
            <a:r>
              <a:rPr lang="en-US" sz="5400" b="1" dirty="0">
                <a:solidFill>
                  <a:schemeClr val="bg1"/>
                </a:solidFill>
              </a:rPr>
              <a:t>Machine Learning</a:t>
            </a:r>
            <a:endParaRPr lang="en-US" sz="5400" dirty="0">
              <a:solidFill>
                <a:schemeClr val="bg1"/>
              </a:solidFill>
            </a:endParaRPr>
          </a:p>
        </p:txBody>
      </p:sp>
      <p:sp>
        <p:nvSpPr>
          <p:cNvPr id="14" name="Subtitle 2">
            <a:extLst>
              <a:ext uri="{FF2B5EF4-FFF2-40B4-BE49-F238E27FC236}">
                <a16:creationId xmlns:a16="http://schemas.microsoft.com/office/drawing/2014/main" id="{0E241FDD-C2D6-4C8A-B182-5E6160AA69F1}"/>
              </a:ext>
            </a:extLst>
          </p:cNvPr>
          <p:cNvSpPr>
            <a:spLocks noGrp="1"/>
          </p:cNvSpPr>
          <p:nvPr>
            <p:ph type="subTitle" idx="1"/>
          </p:nvPr>
        </p:nvSpPr>
        <p:spPr>
          <a:xfrm>
            <a:off x="581194" y="5467246"/>
            <a:ext cx="10993546" cy="484822"/>
          </a:xfrm>
        </p:spPr>
        <p:txBody>
          <a:bodyPr>
            <a:noAutofit/>
          </a:bodyPr>
          <a:lstStyle/>
          <a:p>
            <a:r>
              <a:rPr lang="en-US" sz="2000" b="1" dirty="0">
                <a:solidFill>
                  <a:schemeClr val="bg1"/>
                </a:solidFill>
              </a:rPr>
              <a:t>HW_6_PCA</a:t>
            </a:r>
          </a:p>
          <a:p>
            <a:r>
              <a:rPr lang="en-US" sz="2000" b="1" dirty="0">
                <a:solidFill>
                  <a:schemeClr val="bg1"/>
                </a:solidFill>
              </a:rPr>
              <a:t>Group 02 - Alpha Team</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F00EDFD0-D598-480E-8427-BBC119A5D503}"/>
              </a:ext>
            </a:extLst>
          </p:cNvPr>
          <p:cNvGraphicFramePr/>
          <p:nvPr>
            <p:extLst>
              <p:ext uri="{D42A27DB-BD31-4B8C-83A1-F6EECF244321}">
                <p14:modId xmlns:p14="http://schemas.microsoft.com/office/powerpoint/2010/main" val="982696795"/>
              </p:ext>
            </p:extLst>
          </p:nvPr>
        </p:nvGraphicFramePr>
        <p:xfrm>
          <a:off x="1193022" y="561871"/>
          <a:ext cx="4077256" cy="4654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TextBox 35">
            <a:extLst>
              <a:ext uri="{FF2B5EF4-FFF2-40B4-BE49-F238E27FC236}">
                <a16:creationId xmlns:a16="http://schemas.microsoft.com/office/drawing/2014/main" id="{C1E158AC-E0EA-4B4F-81E4-3ADFCBC9EA93}"/>
              </a:ext>
            </a:extLst>
          </p:cNvPr>
          <p:cNvSpPr txBox="1"/>
          <p:nvPr/>
        </p:nvSpPr>
        <p:spPr>
          <a:xfrm>
            <a:off x="5960464" y="702694"/>
            <a:ext cx="3790137" cy="1785104"/>
          </a:xfrm>
          <a:prstGeom prst="rect">
            <a:avLst/>
          </a:prstGeom>
          <a:noFill/>
        </p:spPr>
        <p:txBody>
          <a:bodyPr wrap="square" rtlCol="0">
            <a:spAutoFit/>
          </a:bodyPr>
          <a:lstStyle/>
          <a:p>
            <a:pPr marL="171450" indent="-171450">
              <a:buFont typeface="Wingdings" panose="05000000000000000000" pitchFamily="2" charset="2"/>
              <a:buChar char="ü"/>
            </a:pPr>
            <a:r>
              <a:rPr lang="en-US" sz="1100" dirty="0"/>
              <a:t>With this Explained variance ratio we can tell how much variance each principal component explains </a:t>
            </a:r>
          </a:p>
          <a:p>
            <a:pPr marL="628650" lvl="1" indent="-171450">
              <a:buFont typeface="Arial" panose="020B0604020202020204" pitchFamily="34" charset="0"/>
              <a:buChar char="•"/>
            </a:pPr>
            <a:r>
              <a:rPr lang="en-US" sz="1100" dirty="0"/>
              <a:t>PC1 contributed 23% overall variance of to the dataset</a:t>
            </a:r>
          </a:p>
          <a:p>
            <a:pPr marL="628650" lvl="1" indent="-171450">
              <a:buFont typeface="Arial" panose="020B0604020202020204" pitchFamily="34" charset="0"/>
              <a:buChar char="•"/>
            </a:pPr>
            <a:r>
              <a:rPr lang="en-US" sz="1100" dirty="0"/>
              <a:t>PC2 contributed 14% overall variance of to the dataset</a:t>
            </a:r>
          </a:p>
          <a:p>
            <a:pPr marL="628650" lvl="1" indent="-171450">
              <a:buFont typeface="Arial" panose="020B0604020202020204" pitchFamily="34" charset="0"/>
              <a:buChar char="•"/>
            </a:pPr>
            <a:r>
              <a:rPr lang="en-US" sz="1100" dirty="0"/>
              <a:t>PC3 contributed 13% overall variance of to the dataset </a:t>
            </a:r>
          </a:p>
          <a:p>
            <a:pPr marL="171450" indent="-171450">
              <a:buFont typeface="Wingdings" panose="05000000000000000000" pitchFamily="2" charset="2"/>
              <a:buChar char="ü"/>
            </a:pPr>
            <a:r>
              <a:rPr lang="en-US" sz="1100" dirty="0"/>
              <a:t>Only with this three PC we have accounted 50% explained variance of the dataset.</a:t>
            </a:r>
          </a:p>
        </p:txBody>
      </p:sp>
      <p:pic>
        <p:nvPicPr>
          <p:cNvPr id="47" name="Picture 46">
            <a:extLst>
              <a:ext uri="{FF2B5EF4-FFF2-40B4-BE49-F238E27FC236}">
                <a16:creationId xmlns:a16="http://schemas.microsoft.com/office/drawing/2014/main" id="{6C969D0A-54C8-46C1-A939-B3C65A647CFC}"/>
              </a:ext>
            </a:extLst>
          </p:cNvPr>
          <p:cNvPicPr>
            <a:picLocks noChangeAspect="1"/>
          </p:cNvPicPr>
          <p:nvPr/>
        </p:nvPicPr>
        <p:blipFill>
          <a:blip r:embed="rId7"/>
          <a:stretch>
            <a:fillRect/>
          </a:stretch>
        </p:blipFill>
        <p:spPr>
          <a:xfrm>
            <a:off x="9578863" y="630643"/>
            <a:ext cx="2390353" cy="2091559"/>
          </a:xfrm>
          <a:prstGeom prst="rect">
            <a:avLst/>
          </a:prstGeom>
          <a:ln>
            <a:solidFill>
              <a:srgbClr val="002060"/>
            </a:solidFill>
          </a:ln>
        </p:spPr>
      </p:pic>
      <p:pic>
        <p:nvPicPr>
          <p:cNvPr id="51" name="Picture 50">
            <a:extLst>
              <a:ext uri="{FF2B5EF4-FFF2-40B4-BE49-F238E27FC236}">
                <a16:creationId xmlns:a16="http://schemas.microsoft.com/office/drawing/2014/main" id="{124944FD-51FA-4521-A6E7-A684CB748009}"/>
              </a:ext>
            </a:extLst>
          </p:cNvPr>
          <p:cNvPicPr>
            <a:picLocks noChangeAspect="1"/>
          </p:cNvPicPr>
          <p:nvPr/>
        </p:nvPicPr>
        <p:blipFill rotWithShape="1">
          <a:blip r:embed="rId8"/>
          <a:srcRect l="20008" t="45671" r="59159" b="23616"/>
          <a:stretch/>
        </p:blipFill>
        <p:spPr>
          <a:xfrm>
            <a:off x="9275702" y="4323165"/>
            <a:ext cx="2390352" cy="1955715"/>
          </a:xfrm>
          <a:prstGeom prst="rect">
            <a:avLst/>
          </a:prstGeom>
          <a:ln>
            <a:solidFill>
              <a:srgbClr val="002060"/>
            </a:solidFill>
          </a:ln>
        </p:spPr>
      </p:pic>
      <p:sp>
        <p:nvSpPr>
          <p:cNvPr id="76" name="TextBox 75">
            <a:extLst>
              <a:ext uri="{FF2B5EF4-FFF2-40B4-BE49-F238E27FC236}">
                <a16:creationId xmlns:a16="http://schemas.microsoft.com/office/drawing/2014/main" id="{60C46781-54D1-4C62-B3B9-EDD475F213E2}"/>
              </a:ext>
            </a:extLst>
          </p:cNvPr>
          <p:cNvSpPr txBox="1"/>
          <p:nvPr/>
        </p:nvSpPr>
        <p:spPr>
          <a:xfrm>
            <a:off x="5593370" y="4479392"/>
            <a:ext cx="3790138" cy="1954381"/>
          </a:xfrm>
          <a:prstGeom prst="rect">
            <a:avLst/>
          </a:prstGeom>
          <a:noFill/>
        </p:spPr>
        <p:txBody>
          <a:bodyPr wrap="square" rtlCol="0">
            <a:spAutoFit/>
          </a:bodyPr>
          <a:lstStyle/>
          <a:p>
            <a:pPr marL="228600" indent="-228600">
              <a:buFont typeface="Wingdings" panose="05000000000000000000" pitchFamily="2" charset="2"/>
              <a:buChar char="ü"/>
            </a:pPr>
            <a:r>
              <a:rPr lang="en-US" sz="1100" dirty="0"/>
              <a:t>From the three components we can understand the following</a:t>
            </a:r>
          </a:p>
          <a:p>
            <a:pPr marL="628650" lvl="1" indent="-171450">
              <a:buFont typeface="Arial" panose="020B0604020202020204" pitchFamily="34" charset="0"/>
              <a:buChar char="•"/>
            </a:pPr>
            <a:r>
              <a:rPr lang="en-US" sz="1100" dirty="0"/>
              <a:t>In the PC1 column int_rate, pub_rec, home_other, home_rent and home_own are negatively correlated to each other.</a:t>
            </a:r>
          </a:p>
          <a:p>
            <a:pPr marL="628650" lvl="1" indent="-171450">
              <a:buFont typeface="Arial" panose="020B0604020202020204" pitchFamily="34" charset="0"/>
              <a:buChar char="•"/>
            </a:pPr>
            <a:r>
              <a:rPr lang="en-US" sz="1100" dirty="0"/>
              <a:t>In the PC2 column pub_rec, home_mor,home_other ,home_own are negatively correlated to each other.</a:t>
            </a:r>
          </a:p>
          <a:p>
            <a:pPr marL="628650" lvl="1" indent="-171450">
              <a:buFont typeface="Arial" panose="020B0604020202020204" pitchFamily="34" charset="0"/>
              <a:buChar char="•"/>
            </a:pPr>
            <a:r>
              <a:rPr lang="en-US" sz="1100" dirty="0"/>
              <a:t>In the PC3 column pub_rec, home_mor and home_rent are negatively correlated to each other.</a:t>
            </a:r>
          </a:p>
          <a:p>
            <a:r>
              <a:rPr lang="en-US" sz="1100" dirty="0"/>
              <a:t> </a:t>
            </a:r>
          </a:p>
        </p:txBody>
      </p:sp>
      <p:sp>
        <p:nvSpPr>
          <p:cNvPr id="83" name="TextBox 82">
            <a:extLst>
              <a:ext uri="{FF2B5EF4-FFF2-40B4-BE49-F238E27FC236}">
                <a16:creationId xmlns:a16="http://schemas.microsoft.com/office/drawing/2014/main" id="{0C07421F-553A-49F5-93FC-37D2C5403502}"/>
              </a:ext>
            </a:extLst>
          </p:cNvPr>
          <p:cNvSpPr txBox="1"/>
          <p:nvPr/>
        </p:nvSpPr>
        <p:spPr>
          <a:xfrm>
            <a:off x="17051" y="4259130"/>
            <a:ext cx="2508107" cy="1323439"/>
          </a:xfrm>
          <a:prstGeom prst="rect">
            <a:avLst/>
          </a:prstGeom>
          <a:noFill/>
        </p:spPr>
        <p:txBody>
          <a:bodyPr wrap="square" rtlCol="0">
            <a:spAutoFit/>
          </a:bodyPr>
          <a:lstStyle/>
          <a:p>
            <a:pPr marL="171450" indent="-171450">
              <a:buFont typeface="Wingdings" panose="05000000000000000000" pitchFamily="2" charset="2"/>
              <a:buChar char="ü"/>
            </a:pPr>
            <a:r>
              <a:rPr lang="en-US" sz="800" dirty="0"/>
              <a:t>Here we combined the Explained and cumulative variance to easily understand as following</a:t>
            </a:r>
          </a:p>
          <a:p>
            <a:pPr marL="628650" lvl="1" indent="-171450">
              <a:buFont typeface="Arial" panose="020B0604020202020204" pitchFamily="34" charset="0"/>
              <a:buChar char="•"/>
            </a:pPr>
            <a:r>
              <a:rPr lang="en-US" sz="800" dirty="0"/>
              <a:t>The cumulative variance starts from 0 and goes to PC1’s explained variance which is same result.  </a:t>
            </a:r>
          </a:p>
          <a:p>
            <a:pPr marL="628650" lvl="1" indent="-171450">
              <a:buFont typeface="Arial" panose="020B0604020202020204" pitchFamily="34" charset="0"/>
              <a:buChar char="•"/>
            </a:pPr>
            <a:r>
              <a:rPr lang="en-US" sz="800" dirty="0"/>
              <a:t>Then cumulative variance will add roughly 14% to become 36%</a:t>
            </a:r>
          </a:p>
          <a:p>
            <a:pPr marL="628650" lvl="1" indent="-171450">
              <a:buFont typeface="Arial" panose="020B0604020202020204" pitchFamily="34" charset="0"/>
              <a:buChar char="•"/>
            </a:pPr>
            <a:r>
              <a:rPr lang="en-US" sz="800" dirty="0"/>
              <a:t>Cumulative will add roughly 13% to become 50%.  </a:t>
            </a:r>
          </a:p>
          <a:p>
            <a:pPr lvl="1"/>
            <a:r>
              <a:rPr lang="en-US" sz="800" dirty="0"/>
              <a:t>We will get 100% finally. </a:t>
            </a:r>
          </a:p>
        </p:txBody>
      </p:sp>
      <p:grpSp>
        <p:nvGrpSpPr>
          <p:cNvPr id="97" name="Group 96">
            <a:extLst>
              <a:ext uri="{FF2B5EF4-FFF2-40B4-BE49-F238E27FC236}">
                <a16:creationId xmlns:a16="http://schemas.microsoft.com/office/drawing/2014/main" id="{118DF15F-1F73-4C4D-B33D-899D6FEFC9D1}"/>
              </a:ext>
            </a:extLst>
          </p:cNvPr>
          <p:cNvGrpSpPr/>
          <p:nvPr/>
        </p:nvGrpSpPr>
        <p:grpSpPr>
          <a:xfrm>
            <a:off x="291173" y="1806646"/>
            <a:ext cx="6750516" cy="2324380"/>
            <a:chOff x="974707" y="2502053"/>
            <a:chExt cx="7612724" cy="2621261"/>
          </a:xfrm>
        </p:grpSpPr>
        <p:cxnSp>
          <p:nvCxnSpPr>
            <p:cNvPr id="105" name="Straight Connector 104">
              <a:extLst>
                <a:ext uri="{FF2B5EF4-FFF2-40B4-BE49-F238E27FC236}">
                  <a16:creationId xmlns:a16="http://schemas.microsoft.com/office/drawing/2014/main" id="{FD28716B-E90A-4C2D-B4DF-01FBAB5DE39A}"/>
                </a:ext>
              </a:extLst>
            </p:cNvPr>
            <p:cNvCxnSpPr>
              <a:cxnSpLocks/>
            </p:cNvCxnSpPr>
            <p:nvPr/>
          </p:nvCxnSpPr>
          <p:spPr>
            <a:xfrm>
              <a:off x="4756785" y="4942624"/>
              <a:ext cx="0" cy="180690"/>
            </a:xfrm>
            <a:prstGeom prst="line">
              <a:avLst/>
            </a:prstGeom>
            <a:ln w="952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D31706A1-5C93-455E-B7FC-D8D39E553D02}"/>
                </a:ext>
              </a:extLst>
            </p:cNvPr>
            <p:cNvGrpSpPr/>
            <p:nvPr/>
          </p:nvGrpSpPr>
          <p:grpSpPr>
            <a:xfrm>
              <a:off x="974707" y="2502053"/>
              <a:ext cx="7612724" cy="2425148"/>
              <a:chOff x="745494" y="2257448"/>
              <a:chExt cx="7612724" cy="2425148"/>
            </a:xfrm>
          </p:grpSpPr>
          <p:grpSp>
            <p:nvGrpSpPr>
              <p:cNvPr id="106" name="Group 105">
                <a:extLst>
                  <a:ext uri="{FF2B5EF4-FFF2-40B4-BE49-F238E27FC236}">
                    <a16:creationId xmlns:a16="http://schemas.microsoft.com/office/drawing/2014/main" id="{53AC9F69-7C64-4A49-B131-C43543B2EAD3}"/>
                  </a:ext>
                </a:extLst>
              </p:cNvPr>
              <p:cNvGrpSpPr/>
              <p:nvPr/>
            </p:nvGrpSpPr>
            <p:grpSpPr>
              <a:xfrm>
                <a:off x="745494" y="2257448"/>
                <a:ext cx="7612724" cy="2425148"/>
                <a:chOff x="-782140" y="2777386"/>
                <a:chExt cx="7612724" cy="2425148"/>
              </a:xfrm>
            </p:grpSpPr>
            <p:pic>
              <p:nvPicPr>
                <p:cNvPr id="109" name="Picture 108">
                  <a:extLst>
                    <a:ext uri="{FF2B5EF4-FFF2-40B4-BE49-F238E27FC236}">
                      <a16:creationId xmlns:a16="http://schemas.microsoft.com/office/drawing/2014/main" id="{2A534C26-EAD8-4B27-BE06-8CA76EA71176}"/>
                    </a:ext>
                  </a:extLst>
                </p:cNvPr>
                <p:cNvPicPr>
                  <a:picLocks noChangeAspect="1"/>
                </p:cNvPicPr>
                <p:nvPr/>
              </p:nvPicPr>
              <p:blipFill>
                <a:blip r:embed="rId9"/>
                <a:stretch>
                  <a:fillRect/>
                </a:stretch>
              </p:blipFill>
              <p:spPr>
                <a:xfrm>
                  <a:off x="4070298" y="3633628"/>
                  <a:ext cx="2760286" cy="1568906"/>
                </a:xfrm>
                <a:prstGeom prst="rect">
                  <a:avLst/>
                </a:prstGeom>
                <a:ln>
                  <a:solidFill>
                    <a:srgbClr val="92D050"/>
                  </a:solidFill>
                </a:ln>
              </p:spPr>
            </p:pic>
            <p:pic>
              <p:nvPicPr>
                <p:cNvPr id="110" name="Picture 109">
                  <a:extLst>
                    <a:ext uri="{FF2B5EF4-FFF2-40B4-BE49-F238E27FC236}">
                      <a16:creationId xmlns:a16="http://schemas.microsoft.com/office/drawing/2014/main" id="{380BAA2B-C1B0-48B1-B6E5-6C1ACF9BE7FB}"/>
                    </a:ext>
                  </a:extLst>
                </p:cNvPr>
                <p:cNvPicPr>
                  <a:picLocks noChangeAspect="1"/>
                </p:cNvPicPr>
                <p:nvPr/>
              </p:nvPicPr>
              <p:blipFill rotWithShape="1">
                <a:blip r:embed="rId10"/>
                <a:srcRect l="20736" t="29804" r="58382" b="35817"/>
                <a:stretch/>
              </p:blipFill>
              <p:spPr>
                <a:xfrm>
                  <a:off x="2264530" y="3023230"/>
                  <a:ext cx="1568358" cy="1452387"/>
                </a:xfrm>
                <a:prstGeom prst="rect">
                  <a:avLst/>
                </a:prstGeom>
                <a:ln>
                  <a:solidFill>
                    <a:schemeClr val="accent1"/>
                  </a:solidFill>
                </a:ln>
              </p:spPr>
            </p:pic>
            <p:pic>
              <p:nvPicPr>
                <p:cNvPr id="111" name="Picture 110">
                  <a:extLst>
                    <a:ext uri="{FF2B5EF4-FFF2-40B4-BE49-F238E27FC236}">
                      <a16:creationId xmlns:a16="http://schemas.microsoft.com/office/drawing/2014/main" id="{BBE330AB-C5A6-4207-A14C-EE6C7B7CA8E2}"/>
                    </a:ext>
                  </a:extLst>
                </p:cNvPr>
                <p:cNvPicPr>
                  <a:picLocks noChangeAspect="1"/>
                </p:cNvPicPr>
                <p:nvPr/>
              </p:nvPicPr>
              <p:blipFill>
                <a:blip r:embed="rId11"/>
                <a:stretch>
                  <a:fillRect/>
                </a:stretch>
              </p:blipFill>
              <p:spPr>
                <a:xfrm>
                  <a:off x="-782140" y="3704333"/>
                  <a:ext cx="2805202" cy="1498201"/>
                </a:xfrm>
                <a:prstGeom prst="rect">
                  <a:avLst/>
                </a:prstGeom>
                <a:ln>
                  <a:solidFill>
                    <a:srgbClr val="FFC000"/>
                  </a:solidFill>
                </a:ln>
              </p:spPr>
            </p:pic>
            <p:cxnSp>
              <p:nvCxnSpPr>
                <p:cNvPr id="112" name="Straight Connector 111">
                  <a:extLst>
                    <a:ext uri="{FF2B5EF4-FFF2-40B4-BE49-F238E27FC236}">
                      <a16:creationId xmlns:a16="http://schemas.microsoft.com/office/drawing/2014/main" id="{63E061CF-0F49-43DF-ADB7-99CA4946BA99}"/>
                    </a:ext>
                  </a:extLst>
                </p:cNvPr>
                <p:cNvCxnSpPr>
                  <a:cxnSpLocks/>
                </p:cNvCxnSpPr>
                <p:nvPr/>
              </p:nvCxnSpPr>
              <p:spPr>
                <a:xfrm>
                  <a:off x="620461" y="2781303"/>
                  <a:ext cx="2210505"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ED043941-BF41-4399-B214-3A0978D7F7C8}"/>
                    </a:ext>
                  </a:extLst>
                </p:cNvPr>
                <p:cNvSpPr/>
                <p:nvPr/>
              </p:nvSpPr>
              <p:spPr>
                <a:xfrm>
                  <a:off x="2550825" y="3056487"/>
                  <a:ext cx="560282" cy="98716"/>
                </a:xfrm>
                <a:prstGeom prst="rect">
                  <a:avLst/>
                </a:prstGeom>
                <a:no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2CA1BBA4-8D24-40C3-8936-E7411E4F1A8D}"/>
                    </a:ext>
                  </a:extLst>
                </p:cNvPr>
                <p:cNvSpPr/>
                <p:nvPr/>
              </p:nvSpPr>
              <p:spPr>
                <a:xfrm>
                  <a:off x="3138554" y="3057382"/>
                  <a:ext cx="602865" cy="98716"/>
                </a:xfrm>
                <a:prstGeom prst="rect">
                  <a:avLst/>
                </a:prstGeom>
                <a:noFill/>
                <a:ln w="95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Arrow Connector 114">
                  <a:extLst>
                    <a:ext uri="{FF2B5EF4-FFF2-40B4-BE49-F238E27FC236}">
                      <a16:creationId xmlns:a16="http://schemas.microsoft.com/office/drawing/2014/main" id="{65ECF66F-816B-4E56-AB75-DE83C1AC196E}"/>
                    </a:ext>
                  </a:extLst>
                </p:cNvPr>
                <p:cNvCxnSpPr>
                  <a:cxnSpLocks/>
                </p:cNvCxnSpPr>
                <p:nvPr/>
              </p:nvCxnSpPr>
              <p:spPr>
                <a:xfrm>
                  <a:off x="5521785" y="2777386"/>
                  <a:ext cx="0" cy="856242"/>
                </a:xfrm>
                <a:prstGeom prst="straightConnector1">
                  <a:avLst/>
                </a:prstGeom>
                <a:ln w="127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0167E62E-ED36-4758-BB6D-9C99B7585820}"/>
                    </a:ext>
                  </a:extLst>
                </p:cNvPr>
                <p:cNvCxnSpPr>
                  <a:cxnSpLocks/>
                </p:cNvCxnSpPr>
                <p:nvPr/>
              </p:nvCxnSpPr>
              <p:spPr>
                <a:xfrm>
                  <a:off x="621017" y="2777386"/>
                  <a:ext cx="0" cy="92694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7" name="Straight Connector 106">
                <a:extLst>
                  <a:ext uri="{FF2B5EF4-FFF2-40B4-BE49-F238E27FC236}">
                    <a16:creationId xmlns:a16="http://schemas.microsoft.com/office/drawing/2014/main" id="{9B40E8F4-6BD2-487B-A4FD-2914CE9619C9}"/>
                  </a:ext>
                </a:extLst>
              </p:cNvPr>
              <p:cNvCxnSpPr>
                <a:cxnSpLocks/>
              </p:cNvCxnSpPr>
              <p:nvPr/>
            </p:nvCxnSpPr>
            <p:spPr>
              <a:xfrm>
                <a:off x="1976987" y="3247857"/>
                <a:ext cx="0" cy="1203570"/>
              </a:xfrm>
              <a:prstGeom prst="line">
                <a:avLst/>
              </a:prstGeom>
              <a:ln w="6350" cap="flat" cmpd="sng" algn="ctr">
                <a:solidFill>
                  <a:srgbClr val="FFC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8" name="Oval 107">
                <a:extLst>
                  <a:ext uri="{FF2B5EF4-FFF2-40B4-BE49-F238E27FC236}">
                    <a16:creationId xmlns:a16="http://schemas.microsoft.com/office/drawing/2014/main" id="{1686ADB4-30AB-41E8-8917-D3BDFDB4FB64}"/>
                  </a:ext>
                </a:extLst>
              </p:cNvPr>
              <p:cNvSpPr/>
              <p:nvPr/>
            </p:nvSpPr>
            <p:spPr>
              <a:xfrm>
                <a:off x="1956033" y="3865662"/>
                <a:ext cx="45719" cy="45719"/>
              </a:xfrm>
              <a:prstGeom prst="ellipse">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cxnSp>
          <p:nvCxnSpPr>
            <p:cNvPr id="99" name="Straight Connector 98">
              <a:extLst>
                <a:ext uri="{FF2B5EF4-FFF2-40B4-BE49-F238E27FC236}">
                  <a16:creationId xmlns:a16="http://schemas.microsoft.com/office/drawing/2014/main" id="{B9D90731-0E3B-4832-B138-C8C7ECF58208}"/>
                </a:ext>
              </a:extLst>
            </p:cNvPr>
            <p:cNvCxnSpPr>
              <a:cxnSpLocks/>
              <a:endCxn id="113" idx="0"/>
            </p:cNvCxnSpPr>
            <p:nvPr/>
          </p:nvCxnSpPr>
          <p:spPr>
            <a:xfrm>
              <a:off x="4587813" y="2505970"/>
              <a:ext cx="0" cy="27518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5DEB809-122D-4B1F-9424-57FCDB227295}"/>
                </a:ext>
              </a:extLst>
            </p:cNvPr>
            <p:cNvCxnSpPr>
              <a:cxnSpLocks/>
            </p:cNvCxnSpPr>
            <p:nvPr/>
          </p:nvCxnSpPr>
          <p:spPr>
            <a:xfrm>
              <a:off x="5196833" y="2502053"/>
              <a:ext cx="2081799"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EE16E065-85D2-4DD6-8AED-EC7D5D1E9C4C}"/>
                </a:ext>
              </a:extLst>
            </p:cNvPr>
            <p:cNvCxnSpPr>
              <a:cxnSpLocks/>
            </p:cNvCxnSpPr>
            <p:nvPr/>
          </p:nvCxnSpPr>
          <p:spPr>
            <a:xfrm>
              <a:off x="5196833" y="2502053"/>
              <a:ext cx="0" cy="275184"/>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CE4CC1C-9F19-49C1-BE8A-6FF5F9668A04}"/>
                </a:ext>
              </a:extLst>
            </p:cNvPr>
            <p:cNvCxnSpPr>
              <a:cxnSpLocks/>
            </p:cNvCxnSpPr>
            <p:nvPr/>
          </p:nvCxnSpPr>
          <p:spPr>
            <a:xfrm>
              <a:off x="3779909" y="4931011"/>
              <a:ext cx="976876" cy="0"/>
            </a:xfrm>
            <a:prstGeom prst="line">
              <a:avLst/>
            </a:prstGeom>
            <a:ln w="952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93E5CE4-9CEF-40D7-9290-5D710D9DF2C6}"/>
                </a:ext>
              </a:extLst>
            </p:cNvPr>
            <p:cNvCxnSpPr>
              <a:cxnSpLocks/>
            </p:cNvCxnSpPr>
            <p:nvPr/>
          </p:nvCxnSpPr>
          <p:spPr>
            <a:xfrm>
              <a:off x="4756785" y="4932125"/>
              <a:ext cx="1070360" cy="0"/>
            </a:xfrm>
            <a:prstGeom prst="line">
              <a:avLst/>
            </a:prstGeom>
            <a:ln w="9525">
              <a:solidFill>
                <a:srgbClr val="92D050"/>
              </a:solidFill>
            </a:ln>
          </p:spPr>
          <p:style>
            <a:lnRef idx="1">
              <a:schemeClr val="accent1"/>
            </a:lnRef>
            <a:fillRef idx="0">
              <a:schemeClr val="accent1"/>
            </a:fillRef>
            <a:effectRef idx="0">
              <a:schemeClr val="accent1"/>
            </a:effectRef>
            <a:fontRef idx="minor">
              <a:schemeClr val="tx1"/>
            </a:fontRef>
          </p:style>
        </p:cxnSp>
      </p:grpSp>
      <p:graphicFrame>
        <p:nvGraphicFramePr>
          <p:cNvPr id="119" name="Diagram 118">
            <a:extLst>
              <a:ext uri="{FF2B5EF4-FFF2-40B4-BE49-F238E27FC236}">
                <a16:creationId xmlns:a16="http://schemas.microsoft.com/office/drawing/2014/main" id="{EEA1B799-70EE-4B3E-BD74-A75E306B7767}"/>
              </a:ext>
            </a:extLst>
          </p:cNvPr>
          <p:cNvGraphicFramePr/>
          <p:nvPr>
            <p:extLst>
              <p:ext uri="{D42A27DB-BD31-4B8C-83A1-F6EECF244321}">
                <p14:modId xmlns:p14="http://schemas.microsoft.com/office/powerpoint/2010/main" val="3080323817"/>
              </p:ext>
            </p:extLst>
          </p:nvPr>
        </p:nvGraphicFramePr>
        <p:xfrm>
          <a:off x="376755" y="647431"/>
          <a:ext cx="775627" cy="34969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4" name="Picture 3">
            <a:extLst>
              <a:ext uri="{FF2B5EF4-FFF2-40B4-BE49-F238E27FC236}">
                <a16:creationId xmlns:a16="http://schemas.microsoft.com/office/drawing/2014/main" id="{9A0B236F-66EA-9345-8263-048853E7F285}"/>
              </a:ext>
            </a:extLst>
          </p:cNvPr>
          <p:cNvPicPr>
            <a:picLocks noChangeAspect="1"/>
          </p:cNvPicPr>
          <p:nvPr/>
        </p:nvPicPr>
        <p:blipFill rotWithShape="1">
          <a:blip r:embed="rId17"/>
          <a:srcRect l="21717" t="26495" r="15998" b="17036"/>
          <a:stretch/>
        </p:blipFill>
        <p:spPr>
          <a:xfrm>
            <a:off x="2444401" y="4137329"/>
            <a:ext cx="2487488" cy="1329923"/>
          </a:xfrm>
          <a:prstGeom prst="rect">
            <a:avLst/>
          </a:prstGeom>
          <a:solidFill>
            <a:srgbClr val="002060"/>
          </a:solidFill>
          <a:ln>
            <a:solidFill>
              <a:srgbClr val="002060"/>
            </a:solidFill>
          </a:ln>
        </p:spPr>
      </p:pic>
      <p:sp>
        <p:nvSpPr>
          <p:cNvPr id="2" name="TextBox 1">
            <a:extLst>
              <a:ext uri="{FF2B5EF4-FFF2-40B4-BE49-F238E27FC236}">
                <a16:creationId xmlns:a16="http://schemas.microsoft.com/office/drawing/2014/main" id="{B96A49A2-AA50-2FB6-2AF9-4DD238D0FBED}"/>
              </a:ext>
            </a:extLst>
          </p:cNvPr>
          <p:cNvSpPr txBox="1"/>
          <p:nvPr/>
        </p:nvSpPr>
        <p:spPr>
          <a:xfrm>
            <a:off x="2525158" y="1549049"/>
            <a:ext cx="3370723" cy="261610"/>
          </a:xfrm>
          <a:prstGeom prst="rect">
            <a:avLst/>
          </a:prstGeom>
          <a:noFill/>
        </p:spPr>
        <p:txBody>
          <a:bodyPr wrap="square" rtlCol="0">
            <a:spAutoFit/>
          </a:bodyPr>
          <a:lstStyle/>
          <a:p>
            <a:r>
              <a:rPr lang="en-US" sz="1100" dirty="0"/>
              <a:t>Explained and Cumulative Variance Ratio</a:t>
            </a:r>
          </a:p>
        </p:txBody>
      </p:sp>
    </p:spTree>
    <p:extLst>
      <p:ext uri="{BB962C8B-B14F-4D97-AF65-F5344CB8AC3E}">
        <p14:creationId xmlns:p14="http://schemas.microsoft.com/office/powerpoint/2010/main" val="3217226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1704F4-F42B-45F7-A993-B3895C5DBF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3025" y="1963383"/>
            <a:ext cx="3830730" cy="2546034"/>
          </a:xfrm>
          <a:prstGeom prst="rect">
            <a:avLst/>
          </a:prstGeom>
          <a:ln>
            <a:solidFill>
              <a:srgbClr val="002060"/>
            </a:solidFill>
          </a:ln>
        </p:spPr>
      </p:pic>
      <p:grpSp>
        <p:nvGrpSpPr>
          <p:cNvPr id="3" name="Group 2">
            <a:extLst>
              <a:ext uri="{FF2B5EF4-FFF2-40B4-BE49-F238E27FC236}">
                <a16:creationId xmlns:a16="http://schemas.microsoft.com/office/drawing/2014/main" id="{746AFF11-D66F-4645-8588-E92969C5C761}"/>
              </a:ext>
            </a:extLst>
          </p:cNvPr>
          <p:cNvGrpSpPr/>
          <p:nvPr/>
        </p:nvGrpSpPr>
        <p:grpSpPr>
          <a:xfrm>
            <a:off x="1351077" y="614329"/>
            <a:ext cx="2577940" cy="452292"/>
            <a:chOff x="1" y="33332"/>
            <a:chExt cx="3147047" cy="746808"/>
          </a:xfrm>
        </p:grpSpPr>
        <p:sp>
          <p:nvSpPr>
            <p:cNvPr id="4" name="Rectangle: Rounded Corners 3">
              <a:extLst>
                <a:ext uri="{FF2B5EF4-FFF2-40B4-BE49-F238E27FC236}">
                  <a16:creationId xmlns:a16="http://schemas.microsoft.com/office/drawing/2014/main" id="{9BF6D648-85D6-4B19-99E5-38C6B5415531}"/>
                </a:ext>
              </a:extLst>
            </p:cNvPr>
            <p:cNvSpPr/>
            <p:nvPr/>
          </p:nvSpPr>
          <p:spPr>
            <a:xfrm>
              <a:off x="1" y="33332"/>
              <a:ext cx="3147047" cy="74680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5" name="Rectangle: Rounded Corners 4">
              <a:extLst>
                <a:ext uri="{FF2B5EF4-FFF2-40B4-BE49-F238E27FC236}">
                  <a16:creationId xmlns:a16="http://schemas.microsoft.com/office/drawing/2014/main" id="{881E869D-85C5-43B2-9B9A-16BB926D19EA}"/>
                </a:ext>
              </a:extLst>
            </p:cNvPr>
            <p:cNvSpPr txBox="1"/>
            <p:nvPr/>
          </p:nvSpPr>
          <p:spPr>
            <a:xfrm>
              <a:off x="1" y="86957"/>
              <a:ext cx="2869539" cy="67389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dirty="0"/>
                <a:t>B). Create and Interpret biplot</a:t>
              </a:r>
            </a:p>
          </p:txBody>
        </p:sp>
      </p:grpSp>
      <p:grpSp>
        <p:nvGrpSpPr>
          <p:cNvPr id="55" name="Group 54">
            <a:extLst>
              <a:ext uri="{FF2B5EF4-FFF2-40B4-BE49-F238E27FC236}">
                <a16:creationId xmlns:a16="http://schemas.microsoft.com/office/drawing/2014/main" id="{CD25EF1B-C174-42EE-8985-6BAE917E2B1D}"/>
              </a:ext>
            </a:extLst>
          </p:cNvPr>
          <p:cNvGrpSpPr/>
          <p:nvPr/>
        </p:nvGrpSpPr>
        <p:grpSpPr>
          <a:xfrm>
            <a:off x="376912" y="1963382"/>
            <a:ext cx="3166730" cy="4643976"/>
            <a:chOff x="715390" y="1470210"/>
            <a:chExt cx="3528388" cy="5174343"/>
          </a:xfrm>
        </p:grpSpPr>
        <p:grpSp>
          <p:nvGrpSpPr>
            <p:cNvPr id="26" name="Group 25">
              <a:extLst>
                <a:ext uri="{FF2B5EF4-FFF2-40B4-BE49-F238E27FC236}">
                  <a16:creationId xmlns:a16="http://schemas.microsoft.com/office/drawing/2014/main" id="{CF3E6323-B256-4C5A-A151-AF988D11DF37}"/>
                </a:ext>
              </a:extLst>
            </p:cNvPr>
            <p:cNvGrpSpPr/>
            <p:nvPr/>
          </p:nvGrpSpPr>
          <p:grpSpPr>
            <a:xfrm>
              <a:off x="715390" y="1470210"/>
              <a:ext cx="3528388" cy="5174343"/>
              <a:chOff x="2155192" y="1491539"/>
              <a:chExt cx="3528388" cy="5174343"/>
            </a:xfrm>
          </p:grpSpPr>
          <p:pic>
            <p:nvPicPr>
              <p:cNvPr id="27" name="Picture 26">
                <a:extLst>
                  <a:ext uri="{FF2B5EF4-FFF2-40B4-BE49-F238E27FC236}">
                    <a16:creationId xmlns:a16="http://schemas.microsoft.com/office/drawing/2014/main" id="{9466C43B-3B6B-49BD-A0A0-03FA34A4DDB1}"/>
                  </a:ext>
                </a:extLst>
              </p:cNvPr>
              <p:cNvPicPr>
                <a:picLocks noChangeAspect="1"/>
              </p:cNvPicPr>
              <p:nvPr/>
            </p:nvPicPr>
            <p:blipFill>
              <a:blip r:embed="rId3"/>
              <a:stretch>
                <a:fillRect/>
              </a:stretch>
            </p:blipFill>
            <p:spPr>
              <a:xfrm>
                <a:off x="2635623" y="3858921"/>
                <a:ext cx="3047957" cy="2806961"/>
              </a:xfrm>
              <a:prstGeom prst="rect">
                <a:avLst/>
              </a:prstGeom>
              <a:ln>
                <a:solidFill>
                  <a:srgbClr val="0070C0"/>
                </a:solidFill>
              </a:ln>
            </p:spPr>
          </p:pic>
          <p:pic>
            <p:nvPicPr>
              <p:cNvPr id="28" name="Picture 27">
                <a:extLst>
                  <a:ext uri="{FF2B5EF4-FFF2-40B4-BE49-F238E27FC236}">
                    <a16:creationId xmlns:a16="http://schemas.microsoft.com/office/drawing/2014/main" id="{BEB08C2D-DB7C-4CE4-8765-D756B6C3304B}"/>
                  </a:ext>
                </a:extLst>
              </p:cNvPr>
              <p:cNvPicPr>
                <a:picLocks noChangeAspect="1"/>
              </p:cNvPicPr>
              <p:nvPr/>
            </p:nvPicPr>
            <p:blipFill rotWithShape="1">
              <a:blip r:embed="rId4"/>
              <a:srcRect l="19559" t="48393" r="55442" b="9935"/>
              <a:stretch/>
            </p:blipFill>
            <p:spPr>
              <a:xfrm>
                <a:off x="2635622" y="1491539"/>
                <a:ext cx="3047957" cy="2294228"/>
              </a:xfrm>
              <a:prstGeom prst="rect">
                <a:avLst/>
              </a:prstGeom>
              <a:ln>
                <a:solidFill>
                  <a:srgbClr val="0070C0"/>
                </a:solidFill>
              </a:ln>
            </p:spPr>
          </p:pic>
          <p:cxnSp>
            <p:nvCxnSpPr>
              <p:cNvPr id="30" name="Straight Connector 29">
                <a:extLst>
                  <a:ext uri="{FF2B5EF4-FFF2-40B4-BE49-F238E27FC236}">
                    <a16:creationId xmlns:a16="http://schemas.microsoft.com/office/drawing/2014/main" id="{D9320967-CAE1-469E-AE6A-2395EC50A88D}"/>
                  </a:ext>
                </a:extLst>
              </p:cNvPr>
              <p:cNvCxnSpPr>
                <a:cxnSpLocks/>
              </p:cNvCxnSpPr>
              <p:nvPr/>
            </p:nvCxnSpPr>
            <p:spPr>
              <a:xfrm flipH="1" flipV="1">
                <a:off x="2155192" y="2638654"/>
                <a:ext cx="1" cy="277046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5B134545-223A-4DCD-95F7-CAE9DE5B7783}"/>
                </a:ext>
              </a:extLst>
            </p:cNvPr>
            <p:cNvCxnSpPr>
              <a:cxnSpLocks/>
            </p:cNvCxnSpPr>
            <p:nvPr/>
          </p:nvCxnSpPr>
          <p:spPr>
            <a:xfrm>
              <a:off x="715391" y="5387788"/>
              <a:ext cx="480430"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8DE3648-03D1-4A7A-926E-C55A1918F040}"/>
                </a:ext>
              </a:extLst>
            </p:cNvPr>
            <p:cNvCxnSpPr>
              <a:cxnSpLocks/>
              <a:stCxn id="28" idx="1"/>
            </p:cNvCxnSpPr>
            <p:nvPr/>
          </p:nvCxnSpPr>
          <p:spPr>
            <a:xfrm flipH="1">
              <a:off x="715390" y="2617325"/>
              <a:ext cx="48043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graphicFrame>
        <p:nvGraphicFramePr>
          <p:cNvPr id="57" name="Diagram 56">
            <a:extLst>
              <a:ext uri="{FF2B5EF4-FFF2-40B4-BE49-F238E27FC236}">
                <a16:creationId xmlns:a16="http://schemas.microsoft.com/office/drawing/2014/main" id="{7021E3B8-3967-4EB0-B66E-687CDEF09DA8}"/>
              </a:ext>
            </a:extLst>
          </p:cNvPr>
          <p:cNvGraphicFramePr/>
          <p:nvPr>
            <p:extLst>
              <p:ext uri="{D42A27DB-BD31-4B8C-83A1-F6EECF244321}">
                <p14:modId xmlns:p14="http://schemas.microsoft.com/office/powerpoint/2010/main" val="2822414909"/>
              </p:ext>
            </p:extLst>
          </p:nvPr>
        </p:nvGraphicFramePr>
        <p:xfrm>
          <a:off x="81077" y="1551761"/>
          <a:ext cx="3208530" cy="3077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59" name="Diagram 58">
            <a:extLst>
              <a:ext uri="{FF2B5EF4-FFF2-40B4-BE49-F238E27FC236}">
                <a16:creationId xmlns:a16="http://schemas.microsoft.com/office/drawing/2014/main" id="{50EF6829-F50A-4656-8533-29C6C2288C96}"/>
              </a:ext>
            </a:extLst>
          </p:cNvPr>
          <p:cNvGraphicFramePr/>
          <p:nvPr>
            <p:extLst>
              <p:ext uri="{D42A27DB-BD31-4B8C-83A1-F6EECF244321}">
                <p14:modId xmlns:p14="http://schemas.microsoft.com/office/powerpoint/2010/main" val="257194551"/>
              </p:ext>
            </p:extLst>
          </p:nvPr>
        </p:nvGraphicFramePr>
        <p:xfrm>
          <a:off x="3581274" y="1566630"/>
          <a:ext cx="3208530" cy="30777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60" name="TextBox 59">
            <a:extLst>
              <a:ext uri="{FF2B5EF4-FFF2-40B4-BE49-F238E27FC236}">
                <a16:creationId xmlns:a16="http://schemas.microsoft.com/office/drawing/2014/main" id="{40EC4687-C8E7-4337-A7F8-5C8D3436DE1F}"/>
              </a:ext>
            </a:extLst>
          </p:cNvPr>
          <p:cNvSpPr txBox="1"/>
          <p:nvPr/>
        </p:nvSpPr>
        <p:spPr>
          <a:xfrm>
            <a:off x="7565500" y="5538075"/>
            <a:ext cx="3830730" cy="1354217"/>
          </a:xfrm>
          <a:prstGeom prst="rect">
            <a:avLst/>
          </a:prstGeom>
          <a:noFill/>
        </p:spPr>
        <p:txBody>
          <a:bodyPr wrap="square" rtlCol="0">
            <a:spAutoFit/>
          </a:bodyPr>
          <a:lstStyle/>
          <a:p>
            <a:pPr marL="171450" indent="-171450">
              <a:buFont typeface="Wingdings" panose="05000000000000000000" pitchFamily="2" charset="2"/>
              <a:buChar char="ü"/>
            </a:pPr>
            <a:r>
              <a:rPr lang="en-US" sz="1200" dirty="0"/>
              <a:t>loan_amnt and annual_inc are highly correlated  variables </a:t>
            </a:r>
          </a:p>
          <a:p>
            <a:pPr marL="171450" indent="-171450">
              <a:buFont typeface="Wingdings" panose="05000000000000000000" pitchFamily="2" charset="2"/>
              <a:buChar char="ü"/>
            </a:pPr>
            <a:r>
              <a:rPr lang="en-US" sz="1200" dirty="0"/>
              <a:t>home_mor and home_own varaiables are not correlated  </a:t>
            </a:r>
          </a:p>
          <a:p>
            <a:pPr marL="171450" indent="-171450">
              <a:buFont typeface="Wingdings" panose="05000000000000000000" pitchFamily="2" charset="2"/>
              <a:buChar char="ü"/>
            </a:pPr>
            <a:r>
              <a:rPr lang="en-US" sz="1200" dirty="0"/>
              <a:t> home_rent and home_mor variables are negatively correlated </a:t>
            </a:r>
          </a:p>
          <a:p>
            <a:pPr marL="171450" indent="-171450">
              <a:buFont typeface="Wingdings" panose="05000000000000000000" pitchFamily="2" charset="2"/>
              <a:buChar char="ü"/>
            </a:pPr>
            <a:endParaRPr lang="en-US" sz="1000" dirty="0"/>
          </a:p>
        </p:txBody>
      </p:sp>
      <p:sp>
        <p:nvSpPr>
          <p:cNvPr id="64" name="TextBox 63">
            <a:extLst>
              <a:ext uri="{FF2B5EF4-FFF2-40B4-BE49-F238E27FC236}">
                <a16:creationId xmlns:a16="http://schemas.microsoft.com/office/drawing/2014/main" id="{AEEA3F09-8DED-4046-9072-C26041BBED3E}"/>
              </a:ext>
            </a:extLst>
          </p:cNvPr>
          <p:cNvSpPr txBox="1"/>
          <p:nvPr/>
        </p:nvSpPr>
        <p:spPr>
          <a:xfrm>
            <a:off x="7541698" y="3663028"/>
            <a:ext cx="4555617" cy="1569660"/>
          </a:xfrm>
          <a:prstGeom prst="rect">
            <a:avLst/>
          </a:prstGeom>
          <a:noFill/>
        </p:spPr>
        <p:txBody>
          <a:bodyPr wrap="square" rtlCol="0">
            <a:spAutoFit/>
          </a:bodyPr>
          <a:lstStyle/>
          <a:p>
            <a:pPr marL="285750" indent="-285750">
              <a:buFont typeface="Wingdings" panose="05000000000000000000" pitchFamily="2" charset="2"/>
              <a:buChar char="ü"/>
            </a:pPr>
            <a:r>
              <a:rPr lang="en-US" sz="1200" dirty="0"/>
              <a:t>If the angel between variables is 90 degree that means they are not correlated variables </a:t>
            </a:r>
          </a:p>
          <a:p>
            <a:pPr marL="285750" indent="-285750">
              <a:buFont typeface="Wingdings" panose="05000000000000000000" pitchFamily="2" charset="2"/>
              <a:buChar char="ü"/>
            </a:pPr>
            <a:r>
              <a:rPr lang="en-US" sz="1200" dirty="0"/>
              <a:t>If the angel between variables is less than 90 degrees that means the variables are highly correlated .</a:t>
            </a:r>
          </a:p>
          <a:p>
            <a:pPr marL="285750" indent="-285750">
              <a:buFont typeface="Wingdings" panose="05000000000000000000" pitchFamily="2" charset="2"/>
              <a:buChar char="ü"/>
            </a:pPr>
            <a:r>
              <a:rPr lang="en-US" sz="1200" dirty="0"/>
              <a:t>If the angel between variables is  more than 90 degree that means the variables are negatively correlated also if the variables are pulling each other in opposite direction, that shows the variable are negatively correlated too.</a:t>
            </a:r>
          </a:p>
        </p:txBody>
      </p:sp>
      <p:sp>
        <p:nvSpPr>
          <p:cNvPr id="65" name="TextBox 64">
            <a:extLst>
              <a:ext uri="{FF2B5EF4-FFF2-40B4-BE49-F238E27FC236}">
                <a16:creationId xmlns:a16="http://schemas.microsoft.com/office/drawing/2014/main" id="{17040B27-91F5-43D0-8B96-532BBE6D51F0}"/>
              </a:ext>
            </a:extLst>
          </p:cNvPr>
          <p:cNvSpPr txBox="1"/>
          <p:nvPr/>
        </p:nvSpPr>
        <p:spPr>
          <a:xfrm>
            <a:off x="7541698" y="5232688"/>
            <a:ext cx="4728245" cy="461665"/>
          </a:xfrm>
          <a:prstGeom prst="rect">
            <a:avLst/>
          </a:prstGeom>
          <a:noFill/>
        </p:spPr>
        <p:txBody>
          <a:bodyPr wrap="square" rtlCol="0">
            <a:spAutoFit/>
          </a:bodyPr>
          <a:lstStyle/>
          <a:p>
            <a:r>
              <a:rPr lang="en-US" sz="1200" b="1" u="sng" dirty="0"/>
              <a:t>Based on the above information we can say the following :</a:t>
            </a:r>
          </a:p>
          <a:p>
            <a:pPr marL="171450" indent="-171450">
              <a:buFont typeface="Wingdings" panose="05000000000000000000" pitchFamily="2" charset="2"/>
              <a:buChar char="ü"/>
            </a:pPr>
            <a:endParaRPr lang="en-US" sz="1200" b="1" u="sng" dirty="0"/>
          </a:p>
        </p:txBody>
      </p:sp>
      <p:graphicFrame>
        <p:nvGraphicFramePr>
          <p:cNvPr id="75" name="Diagram 74">
            <a:extLst>
              <a:ext uri="{FF2B5EF4-FFF2-40B4-BE49-F238E27FC236}">
                <a16:creationId xmlns:a16="http://schemas.microsoft.com/office/drawing/2014/main" id="{51275449-DC85-4517-99C8-FD4402988A3F}"/>
              </a:ext>
            </a:extLst>
          </p:cNvPr>
          <p:cNvGraphicFramePr/>
          <p:nvPr>
            <p:extLst>
              <p:ext uri="{D42A27DB-BD31-4B8C-83A1-F6EECF244321}">
                <p14:modId xmlns:p14="http://schemas.microsoft.com/office/powerpoint/2010/main" val="2725758338"/>
              </p:ext>
            </p:extLst>
          </p:nvPr>
        </p:nvGraphicFramePr>
        <p:xfrm>
          <a:off x="7124891" y="640198"/>
          <a:ext cx="881219" cy="323166"/>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67" name="TextBox 66">
            <a:extLst>
              <a:ext uri="{FF2B5EF4-FFF2-40B4-BE49-F238E27FC236}">
                <a16:creationId xmlns:a16="http://schemas.microsoft.com/office/drawing/2014/main" id="{FF16D40C-80EF-4FEA-91A5-A780A059EB76}"/>
              </a:ext>
            </a:extLst>
          </p:cNvPr>
          <p:cNvSpPr txBox="1"/>
          <p:nvPr/>
        </p:nvSpPr>
        <p:spPr>
          <a:xfrm>
            <a:off x="8006110" y="522486"/>
            <a:ext cx="3577276" cy="646331"/>
          </a:xfrm>
          <a:prstGeom prst="rect">
            <a:avLst/>
          </a:prstGeom>
          <a:noFill/>
        </p:spPr>
        <p:txBody>
          <a:bodyPr wrap="square" rtlCol="0">
            <a:spAutoFit/>
          </a:bodyPr>
          <a:lstStyle/>
          <a:p>
            <a:r>
              <a:rPr lang="en-US" sz="1200" dirty="0"/>
              <a:t>From biplot we can get number of information such as  the correlation of the variables  and  which variable affects the principal components </a:t>
            </a:r>
          </a:p>
        </p:txBody>
      </p:sp>
      <p:sp>
        <p:nvSpPr>
          <p:cNvPr id="69" name="TextBox 68">
            <a:extLst>
              <a:ext uri="{FF2B5EF4-FFF2-40B4-BE49-F238E27FC236}">
                <a16:creationId xmlns:a16="http://schemas.microsoft.com/office/drawing/2014/main" id="{1E857347-4C73-4BBF-ACC2-C8493240B704}"/>
              </a:ext>
            </a:extLst>
          </p:cNvPr>
          <p:cNvSpPr txBox="1"/>
          <p:nvPr/>
        </p:nvSpPr>
        <p:spPr>
          <a:xfrm>
            <a:off x="7541699" y="2689539"/>
            <a:ext cx="4555617" cy="646331"/>
          </a:xfrm>
          <a:prstGeom prst="rect">
            <a:avLst/>
          </a:prstGeom>
          <a:noFill/>
        </p:spPr>
        <p:txBody>
          <a:bodyPr wrap="square" rtlCol="0">
            <a:spAutoFit/>
          </a:bodyPr>
          <a:lstStyle/>
          <a:p>
            <a:pPr marL="285750" indent="-285750">
              <a:buFont typeface="Wingdings" panose="05000000000000000000" pitchFamily="2" charset="2"/>
              <a:buChar char="ü"/>
            </a:pPr>
            <a:r>
              <a:rPr lang="en-US" sz="1200" dirty="0"/>
              <a:t>loan_amnt is growing with the growing PC2, In the other hand home_own is falling with PC2 </a:t>
            </a:r>
          </a:p>
          <a:p>
            <a:pPr marL="285750" indent="-285750">
              <a:buFont typeface="Wingdings" panose="05000000000000000000" pitchFamily="2" charset="2"/>
              <a:buChar char="ü"/>
            </a:pPr>
            <a:endParaRPr lang="en-US" sz="1200" dirty="0"/>
          </a:p>
        </p:txBody>
      </p:sp>
      <p:graphicFrame>
        <p:nvGraphicFramePr>
          <p:cNvPr id="71" name="Diagram 70">
            <a:extLst>
              <a:ext uri="{FF2B5EF4-FFF2-40B4-BE49-F238E27FC236}">
                <a16:creationId xmlns:a16="http://schemas.microsoft.com/office/drawing/2014/main" id="{FA499B57-D8E3-49B0-8060-6FA67D267D5F}"/>
              </a:ext>
            </a:extLst>
          </p:cNvPr>
          <p:cNvGraphicFramePr/>
          <p:nvPr>
            <p:extLst>
              <p:ext uri="{D42A27DB-BD31-4B8C-83A1-F6EECF244321}">
                <p14:modId xmlns:p14="http://schemas.microsoft.com/office/powerpoint/2010/main" val="4099965135"/>
              </p:ext>
            </p:extLst>
          </p:nvPr>
        </p:nvGraphicFramePr>
        <p:xfrm>
          <a:off x="7811564" y="1157983"/>
          <a:ext cx="4221825" cy="369332"/>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graphicFrame>
        <p:nvGraphicFramePr>
          <p:cNvPr id="72" name="Diagram 71">
            <a:extLst>
              <a:ext uri="{FF2B5EF4-FFF2-40B4-BE49-F238E27FC236}">
                <a16:creationId xmlns:a16="http://schemas.microsoft.com/office/drawing/2014/main" id="{94676410-6A7A-476D-92CA-B8ADC0FA969D}"/>
              </a:ext>
            </a:extLst>
          </p:cNvPr>
          <p:cNvGraphicFramePr/>
          <p:nvPr>
            <p:extLst>
              <p:ext uri="{D42A27DB-BD31-4B8C-83A1-F6EECF244321}">
                <p14:modId xmlns:p14="http://schemas.microsoft.com/office/powerpoint/2010/main" val="1833481126"/>
              </p:ext>
            </p:extLst>
          </p:nvPr>
        </p:nvGraphicFramePr>
        <p:xfrm>
          <a:off x="7811564" y="3207061"/>
          <a:ext cx="4221825" cy="369332"/>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p:sp>
        <p:nvSpPr>
          <p:cNvPr id="73" name="TextBox 72">
            <a:extLst>
              <a:ext uri="{FF2B5EF4-FFF2-40B4-BE49-F238E27FC236}">
                <a16:creationId xmlns:a16="http://schemas.microsoft.com/office/drawing/2014/main" id="{94DCD0E8-45BB-456A-B0EA-A8E2EE9E1A18}"/>
              </a:ext>
            </a:extLst>
          </p:cNvPr>
          <p:cNvSpPr txBox="1"/>
          <p:nvPr/>
        </p:nvSpPr>
        <p:spPr>
          <a:xfrm>
            <a:off x="7541699" y="1572536"/>
            <a:ext cx="4555617" cy="830997"/>
          </a:xfrm>
          <a:prstGeom prst="rect">
            <a:avLst/>
          </a:prstGeom>
          <a:noFill/>
        </p:spPr>
        <p:txBody>
          <a:bodyPr wrap="square" rtlCol="0">
            <a:spAutoFit/>
          </a:bodyPr>
          <a:lstStyle/>
          <a:p>
            <a:pPr marL="285750" indent="-285750">
              <a:buFont typeface="Wingdings" panose="05000000000000000000" pitchFamily="2" charset="2"/>
              <a:buChar char="ü"/>
            </a:pPr>
            <a:r>
              <a:rPr lang="en-US" sz="1200" dirty="0"/>
              <a:t>If the length of the variables is short(close to (0,0) axis) that means its not important variable.</a:t>
            </a:r>
          </a:p>
          <a:p>
            <a:pPr marL="285750" indent="-285750">
              <a:buFont typeface="Wingdings" panose="05000000000000000000" pitchFamily="2" charset="2"/>
              <a:buChar char="ü"/>
            </a:pPr>
            <a:r>
              <a:rPr lang="en-US" sz="1200" dirty="0"/>
              <a:t>If the variable is inclined to the PC,  we can say that the variable is very strong on that PC. </a:t>
            </a:r>
          </a:p>
        </p:txBody>
      </p:sp>
      <p:sp>
        <p:nvSpPr>
          <p:cNvPr id="74" name="TextBox 73">
            <a:extLst>
              <a:ext uri="{FF2B5EF4-FFF2-40B4-BE49-F238E27FC236}">
                <a16:creationId xmlns:a16="http://schemas.microsoft.com/office/drawing/2014/main" id="{93A62EB1-76E9-4B67-BB1D-F3022FC322E6}"/>
              </a:ext>
            </a:extLst>
          </p:cNvPr>
          <p:cNvSpPr txBox="1"/>
          <p:nvPr/>
        </p:nvSpPr>
        <p:spPr>
          <a:xfrm>
            <a:off x="7463755" y="2403533"/>
            <a:ext cx="4351333" cy="461665"/>
          </a:xfrm>
          <a:prstGeom prst="rect">
            <a:avLst/>
          </a:prstGeom>
          <a:noFill/>
        </p:spPr>
        <p:txBody>
          <a:bodyPr wrap="square" rtlCol="0">
            <a:spAutoFit/>
          </a:bodyPr>
          <a:lstStyle/>
          <a:p>
            <a:r>
              <a:rPr lang="en-US" sz="1200" b="1" u="sng" dirty="0"/>
              <a:t>Based on the above information we can say the following :</a:t>
            </a:r>
          </a:p>
          <a:p>
            <a:pPr marL="171450" indent="-171450">
              <a:buFont typeface="Wingdings" panose="05000000000000000000" pitchFamily="2" charset="2"/>
              <a:buChar char="ü"/>
            </a:pPr>
            <a:endParaRPr lang="en-US" sz="1200" b="1" u="sng" dirty="0"/>
          </a:p>
        </p:txBody>
      </p:sp>
      <p:grpSp>
        <p:nvGrpSpPr>
          <p:cNvPr id="25" name="Group 24">
            <a:extLst>
              <a:ext uri="{FF2B5EF4-FFF2-40B4-BE49-F238E27FC236}">
                <a16:creationId xmlns:a16="http://schemas.microsoft.com/office/drawing/2014/main" id="{B5EF4BFC-F2A6-77C5-3FF5-381203B23471}"/>
              </a:ext>
            </a:extLst>
          </p:cNvPr>
          <p:cNvGrpSpPr/>
          <p:nvPr/>
        </p:nvGrpSpPr>
        <p:grpSpPr>
          <a:xfrm>
            <a:off x="552633" y="711621"/>
            <a:ext cx="775627" cy="304200"/>
            <a:chOff x="0" y="9250"/>
            <a:chExt cx="775627" cy="304200"/>
          </a:xfrm>
        </p:grpSpPr>
        <p:sp>
          <p:nvSpPr>
            <p:cNvPr id="29" name="Rectangle: Rounded Corners 28">
              <a:extLst>
                <a:ext uri="{FF2B5EF4-FFF2-40B4-BE49-F238E27FC236}">
                  <a16:creationId xmlns:a16="http://schemas.microsoft.com/office/drawing/2014/main" id="{2617E6DD-581A-9A8D-B5CD-1F01075889D3}"/>
                </a:ext>
              </a:extLst>
            </p:cNvPr>
            <p:cNvSpPr/>
            <p:nvPr/>
          </p:nvSpPr>
          <p:spPr>
            <a:xfrm>
              <a:off x="0" y="9250"/>
              <a:ext cx="775627" cy="304200"/>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31" name="Rectangle: Rounded Corners 4">
              <a:extLst>
                <a:ext uri="{FF2B5EF4-FFF2-40B4-BE49-F238E27FC236}">
                  <a16:creationId xmlns:a16="http://schemas.microsoft.com/office/drawing/2014/main" id="{E4FA6AEC-5C50-B6D1-A3D8-2082D3BE7186}"/>
                </a:ext>
              </a:extLst>
            </p:cNvPr>
            <p:cNvSpPr txBox="1"/>
            <p:nvPr/>
          </p:nvSpPr>
          <p:spPr>
            <a:xfrm>
              <a:off x="14850" y="24100"/>
              <a:ext cx="745927" cy="2745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i="0" kern="1200" dirty="0">
                  <a:latin typeface="+mn-lt"/>
                </a:rPr>
                <a:t>Task 1  </a:t>
              </a:r>
              <a:r>
                <a:rPr lang="en-US" sz="1300" b="0" i="0" kern="1200" dirty="0">
                  <a:latin typeface="+mn-lt"/>
                </a:rPr>
                <a:t>	</a:t>
              </a:r>
            </a:p>
          </p:txBody>
        </p:sp>
      </p:grpSp>
    </p:spTree>
    <p:extLst>
      <p:ext uri="{BB962C8B-B14F-4D97-AF65-F5344CB8AC3E}">
        <p14:creationId xmlns:p14="http://schemas.microsoft.com/office/powerpoint/2010/main" val="1499571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31FBF75-FC54-123A-D91A-BAB57B5DF96F}"/>
              </a:ext>
            </a:extLst>
          </p:cNvPr>
          <p:cNvCxnSpPr>
            <a:cxnSpLocks/>
            <a:stCxn id="91" idx="1"/>
          </p:cNvCxnSpPr>
          <p:nvPr/>
        </p:nvCxnSpPr>
        <p:spPr>
          <a:xfrm>
            <a:off x="8274423" y="1823290"/>
            <a:ext cx="0" cy="22618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0" name="Diagram 69">
            <a:extLst>
              <a:ext uri="{FF2B5EF4-FFF2-40B4-BE49-F238E27FC236}">
                <a16:creationId xmlns:a16="http://schemas.microsoft.com/office/drawing/2014/main" id="{E27E2C1F-4FF8-4921-97D5-3A49B3F50261}"/>
              </a:ext>
            </a:extLst>
          </p:cNvPr>
          <p:cNvGraphicFramePr/>
          <p:nvPr>
            <p:extLst>
              <p:ext uri="{D42A27DB-BD31-4B8C-83A1-F6EECF244321}">
                <p14:modId xmlns:p14="http://schemas.microsoft.com/office/powerpoint/2010/main" val="2770914958"/>
              </p:ext>
            </p:extLst>
          </p:nvPr>
        </p:nvGraphicFramePr>
        <p:xfrm>
          <a:off x="367433" y="622362"/>
          <a:ext cx="11205882" cy="923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2" name="Picture 71">
            <a:extLst>
              <a:ext uri="{FF2B5EF4-FFF2-40B4-BE49-F238E27FC236}">
                <a16:creationId xmlns:a16="http://schemas.microsoft.com/office/drawing/2014/main" id="{C654A493-8863-4AB4-B264-DD98CA891B1F}"/>
              </a:ext>
            </a:extLst>
          </p:cNvPr>
          <p:cNvPicPr>
            <a:picLocks noChangeAspect="1"/>
          </p:cNvPicPr>
          <p:nvPr/>
        </p:nvPicPr>
        <p:blipFill rotWithShape="1">
          <a:blip r:embed="rId7"/>
          <a:srcRect l="26103" t="34640" r="35514" b="15294"/>
          <a:stretch/>
        </p:blipFill>
        <p:spPr>
          <a:xfrm>
            <a:off x="303086" y="2044711"/>
            <a:ext cx="3942123" cy="3234054"/>
          </a:xfrm>
          <a:prstGeom prst="rect">
            <a:avLst/>
          </a:prstGeom>
          <a:ln>
            <a:solidFill>
              <a:srgbClr val="002060"/>
            </a:solidFill>
          </a:ln>
          <a:effectLst>
            <a:outerShdw blurRad="292100" dist="139700" dir="2700000" algn="tl" rotWithShape="0">
              <a:srgbClr val="333333">
                <a:alpha val="65000"/>
              </a:srgbClr>
            </a:outerShdw>
          </a:effectLst>
        </p:spPr>
      </p:pic>
      <p:sp>
        <p:nvSpPr>
          <p:cNvPr id="73" name="TextBox 72">
            <a:extLst>
              <a:ext uri="{FF2B5EF4-FFF2-40B4-BE49-F238E27FC236}">
                <a16:creationId xmlns:a16="http://schemas.microsoft.com/office/drawing/2014/main" id="{A0EDADF6-830A-4FBC-ADF1-0DD0F52569B2}"/>
              </a:ext>
            </a:extLst>
          </p:cNvPr>
          <p:cNvSpPr txBox="1"/>
          <p:nvPr/>
        </p:nvSpPr>
        <p:spPr>
          <a:xfrm>
            <a:off x="303086" y="5464629"/>
            <a:ext cx="4536141" cy="646331"/>
          </a:xfrm>
          <a:prstGeom prst="rect">
            <a:avLst/>
          </a:prstGeom>
          <a:noFill/>
        </p:spPr>
        <p:txBody>
          <a:bodyPr wrap="square" rtlCol="0">
            <a:spAutoFit/>
          </a:bodyPr>
          <a:lstStyle/>
          <a:p>
            <a:pPr marL="171450" indent="-171450">
              <a:buFont typeface="Wingdings" panose="05000000000000000000" pitchFamily="2" charset="2"/>
              <a:buChar char="ü"/>
            </a:pPr>
            <a:r>
              <a:rPr lang="en-US" sz="1200" dirty="0"/>
              <a:t>There is slight multicollinearity between home_rent and home_mor variables but we decided to keep them because </a:t>
            </a:r>
          </a:p>
          <a:p>
            <a:r>
              <a:rPr lang="en-US" sz="1200" dirty="0"/>
              <a:t>    the collinearity is not high.</a:t>
            </a:r>
          </a:p>
        </p:txBody>
      </p:sp>
      <p:graphicFrame>
        <p:nvGraphicFramePr>
          <p:cNvPr id="90" name="Diagram 89">
            <a:extLst>
              <a:ext uri="{FF2B5EF4-FFF2-40B4-BE49-F238E27FC236}">
                <a16:creationId xmlns:a16="http://schemas.microsoft.com/office/drawing/2014/main" id="{1E00E9C9-64C7-4ABD-837B-8A191E3C8C6F}"/>
              </a:ext>
            </a:extLst>
          </p:cNvPr>
          <p:cNvGraphicFramePr/>
          <p:nvPr>
            <p:extLst>
              <p:ext uri="{D42A27DB-BD31-4B8C-83A1-F6EECF244321}">
                <p14:modId xmlns:p14="http://schemas.microsoft.com/office/powerpoint/2010/main" val="4111628087"/>
              </p:ext>
            </p:extLst>
          </p:nvPr>
        </p:nvGraphicFramePr>
        <p:xfrm>
          <a:off x="4332300" y="1638624"/>
          <a:ext cx="3942123" cy="3693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1" name="Diagram 90">
            <a:extLst>
              <a:ext uri="{FF2B5EF4-FFF2-40B4-BE49-F238E27FC236}">
                <a16:creationId xmlns:a16="http://schemas.microsoft.com/office/drawing/2014/main" id="{B97A8843-8402-42B9-B656-53F6A098ACAF}"/>
              </a:ext>
            </a:extLst>
          </p:cNvPr>
          <p:cNvGraphicFramePr/>
          <p:nvPr>
            <p:extLst>
              <p:ext uri="{D42A27DB-BD31-4B8C-83A1-F6EECF244321}">
                <p14:modId xmlns:p14="http://schemas.microsoft.com/office/powerpoint/2010/main" val="960248744"/>
              </p:ext>
            </p:extLst>
          </p:nvPr>
        </p:nvGraphicFramePr>
        <p:xfrm>
          <a:off x="8274423" y="1638624"/>
          <a:ext cx="3639669" cy="36933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93" name="Table 84">
            <a:extLst>
              <a:ext uri="{FF2B5EF4-FFF2-40B4-BE49-F238E27FC236}">
                <a16:creationId xmlns:a16="http://schemas.microsoft.com/office/drawing/2014/main" id="{0224BBB7-2735-4F13-9415-D743A6F87AD7}"/>
              </a:ext>
            </a:extLst>
          </p:cNvPr>
          <p:cNvGraphicFramePr>
            <a:graphicFrameLocks noGrp="1"/>
          </p:cNvGraphicFramePr>
          <p:nvPr>
            <p:extLst>
              <p:ext uri="{D42A27DB-BD31-4B8C-83A1-F6EECF244321}">
                <p14:modId xmlns:p14="http://schemas.microsoft.com/office/powerpoint/2010/main" val="2743723442"/>
              </p:ext>
            </p:extLst>
          </p:nvPr>
        </p:nvGraphicFramePr>
        <p:xfrm>
          <a:off x="4332300" y="4085114"/>
          <a:ext cx="7581792" cy="1193651"/>
        </p:xfrm>
        <a:graphic>
          <a:graphicData uri="http://schemas.openxmlformats.org/drawingml/2006/table">
            <a:tbl>
              <a:tblPr firstRow="1" bandRow="1">
                <a:tableStyleId>{F5AB1C69-6EDB-4FF4-983F-18BD219EF322}</a:tableStyleId>
              </a:tblPr>
              <a:tblGrid>
                <a:gridCol w="1937871">
                  <a:extLst>
                    <a:ext uri="{9D8B030D-6E8A-4147-A177-3AD203B41FA5}">
                      <a16:colId xmlns:a16="http://schemas.microsoft.com/office/drawing/2014/main" val="4101951231"/>
                    </a:ext>
                  </a:extLst>
                </a:gridCol>
                <a:gridCol w="2007054">
                  <a:extLst>
                    <a:ext uri="{9D8B030D-6E8A-4147-A177-3AD203B41FA5}">
                      <a16:colId xmlns:a16="http://schemas.microsoft.com/office/drawing/2014/main" val="247240455"/>
                    </a:ext>
                  </a:extLst>
                </a:gridCol>
                <a:gridCol w="1900918">
                  <a:extLst>
                    <a:ext uri="{9D8B030D-6E8A-4147-A177-3AD203B41FA5}">
                      <a16:colId xmlns:a16="http://schemas.microsoft.com/office/drawing/2014/main" val="2704931442"/>
                    </a:ext>
                  </a:extLst>
                </a:gridCol>
                <a:gridCol w="1735949">
                  <a:extLst>
                    <a:ext uri="{9D8B030D-6E8A-4147-A177-3AD203B41FA5}">
                      <a16:colId xmlns:a16="http://schemas.microsoft.com/office/drawing/2014/main" val="2030005602"/>
                    </a:ext>
                  </a:extLst>
                </a:gridCol>
              </a:tblGrid>
              <a:tr h="351621">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800" dirty="0"/>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Performance of the model without PCA</a:t>
                      </a:r>
                    </a:p>
                    <a:p>
                      <a:endParaRPr lang="en-US" sz="1300" dirty="0"/>
                    </a:p>
                  </a:txBody>
                  <a:tcPr marL="65574" marR="65574" marT="32787" marB="32787">
                    <a:solidFill>
                      <a:srgbClr val="4D004B"/>
                    </a:solidFill>
                  </a:tcPr>
                </a:tc>
                <a:tc hMerge="1">
                  <a:txBody>
                    <a:bodyPr/>
                    <a:lstStyle/>
                    <a:p>
                      <a:endParaRPr lang="en-US"/>
                    </a:p>
                  </a:txBody>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800" dirty="0"/>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Performance of the model with PCA</a:t>
                      </a:r>
                    </a:p>
                    <a:p>
                      <a:endParaRPr lang="en-US" sz="1300" dirty="0"/>
                    </a:p>
                  </a:txBody>
                  <a:tcPr marL="65574" marR="65574" marT="32787" marB="32787">
                    <a:solidFill>
                      <a:srgbClr val="5E4FA2"/>
                    </a:solidFill>
                  </a:tcPr>
                </a:tc>
                <a:tc hMerge="1">
                  <a:txBody>
                    <a:bodyPr/>
                    <a:lstStyle/>
                    <a:p>
                      <a:endParaRPr lang="en-US"/>
                    </a:p>
                  </a:txBody>
                  <a:tcPr/>
                </a:tc>
                <a:extLst>
                  <a:ext uri="{0D108BD9-81ED-4DB2-BD59-A6C34878D82A}">
                    <a16:rowId xmlns:a16="http://schemas.microsoft.com/office/drawing/2014/main" val="2905659452"/>
                  </a:ext>
                </a:extLst>
              </a:tr>
              <a:tr h="594677">
                <a:tc>
                  <a:txBody>
                    <a:bodyPr/>
                    <a:lstStyle/>
                    <a:p>
                      <a:pPr algn="ctr"/>
                      <a:r>
                        <a:rPr lang="en-US" sz="1200" b="1" dirty="0">
                          <a:solidFill>
                            <a:schemeClr val="tx1"/>
                          </a:solidFill>
                        </a:rPr>
                        <a:t>Accuracy</a:t>
                      </a:r>
                    </a:p>
                  </a:txBody>
                  <a:tcPr marL="65574" marR="65574" marT="32787" marB="32787">
                    <a:solidFill>
                      <a:srgbClr val="CFB9D2"/>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0.7782</a:t>
                      </a:r>
                    </a:p>
                    <a:p>
                      <a:pPr algn="ctr"/>
                      <a:endParaRPr lang="en-US" sz="1200" b="1" dirty="0">
                        <a:solidFill>
                          <a:schemeClr val="tx1"/>
                        </a:solidFill>
                      </a:endParaRPr>
                    </a:p>
                  </a:txBody>
                  <a:tcPr marL="65574" marR="65574" marT="32787" marB="32787">
                    <a:solidFill>
                      <a:srgbClr val="54045C">
                        <a:alpha val="27843"/>
                      </a:srgbClr>
                    </a:solidFill>
                  </a:tcPr>
                </a:tc>
                <a:tc>
                  <a:txBody>
                    <a:bodyPr/>
                    <a:lstStyle/>
                    <a:p>
                      <a:pPr algn="ctr"/>
                      <a:r>
                        <a:rPr lang="en-US" sz="1200" b="1" dirty="0"/>
                        <a:t>Accuracy</a:t>
                      </a:r>
                    </a:p>
                  </a:txBody>
                  <a:tcPr marL="65574" marR="65574" marT="32787" marB="32787">
                    <a:solidFill>
                      <a:srgbClr val="5E4FA2">
                        <a:alpha val="28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dirty="0"/>
                        <a:t>0.7782</a:t>
                      </a:r>
                    </a:p>
                  </a:txBody>
                  <a:tcPr marL="65574" marR="65574" marT="32787" marB="32787">
                    <a:solidFill>
                      <a:srgbClr val="5E4FA2">
                        <a:alpha val="28000"/>
                      </a:srgbClr>
                    </a:solidFill>
                  </a:tcPr>
                </a:tc>
                <a:extLst>
                  <a:ext uri="{0D108BD9-81ED-4DB2-BD59-A6C34878D82A}">
                    <a16:rowId xmlns:a16="http://schemas.microsoft.com/office/drawing/2014/main" val="156424955"/>
                  </a:ext>
                </a:extLst>
              </a:tr>
            </a:tbl>
          </a:graphicData>
        </a:graphic>
      </p:graphicFrame>
      <p:sp>
        <p:nvSpPr>
          <p:cNvPr id="98" name="TextBox 97">
            <a:extLst>
              <a:ext uri="{FF2B5EF4-FFF2-40B4-BE49-F238E27FC236}">
                <a16:creationId xmlns:a16="http://schemas.microsoft.com/office/drawing/2014/main" id="{B3C5CAF1-6009-42B3-8FC5-12F191D7D168}"/>
              </a:ext>
            </a:extLst>
          </p:cNvPr>
          <p:cNvSpPr txBox="1"/>
          <p:nvPr/>
        </p:nvSpPr>
        <p:spPr>
          <a:xfrm>
            <a:off x="4341265" y="5393344"/>
            <a:ext cx="4484045" cy="1015663"/>
          </a:xfrm>
          <a:prstGeom prst="rect">
            <a:avLst/>
          </a:prstGeom>
          <a:noFill/>
        </p:spPr>
        <p:txBody>
          <a:bodyPr wrap="square" rtlCol="0">
            <a:spAutoFit/>
          </a:bodyPr>
          <a:lstStyle/>
          <a:p>
            <a:pPr marL="171450" indent="-171450">
              <a:buFont typeface="Wingdings" panose="05000000000000000000" pitchFamily="2" charset="2"/>
              <a:buChar char="ü"/>
            </a:pPr>
            <a:r>
              <a:rPr lang="en-US" sz="1200" dirty="0"/>
              <a:t>We tried to use different numbers of components while using PCA but we did not get higher accuracy by  increasing the number of components it gets much lower.</a:t>
            </a:r>
          </a:p>
          <a:p>
            <a:pPr marL="171450" indent="-171450">
              <a:buFont typeface="Wingdings" panose="05000000000000000000" pitchFamily="2" charset="2"/>
              <a:buChar char="ü"/>
            </a:pPr>
            <a:r>
              <a:rPr lang="en-US" sz="1200" dirty="0"/>
              <a:t>Confusion matrix and the accuracies are almost the same for the Logistic regression model performance with and without PCA. </a:t>
            </a:r>
          </a:p>
        </p:txBody>
      </p:sp>
      <p:pic>
        <p:nvPicPr>
          <p:cNvPr id="6" name="Picture 5">
            <a:extLst>
              <a:ext uri="{FF2B5EF4-FFF2-40B4-BE49-F238E27FC236}">
                <a16:creationId xmlns:a16="http://schemas.microsoft.com/office/drawing/2014/main" id="{1A6551B2-5E10-E649-5EEB-80CD971819ED}"/>
              </a:ext>
            </a:extLst>
          </p:cNvPr>
          <p:cNvPicPr>
            <a:picLocks noChangeAspect="1"/>
          </p:cNvPicPr>
          <p:nvPr/>
        </p:nvPicPr>
        <p:blipFill rotWithShape="1">
          <a:blip r:embed="rId18"/>
          <a:srcRect l="19265" t="53202" r="54264" b="11242"/>
          <a:stretch/>
        </p:blipFill>
        <p:spPr>
          <a:xfrm>
            <a:off x="4341265" y="2044711"/>
            <a:ext cx="2681621" cy="2026115"/>
          </a:xfrm>
          <a:prstGeom prst="rect">
            <a:avLst/>
          </a:prstGeom>
          <a:ln>
            <a:solidFill>
              <a:srgbClr val="4D004B"/>
            </a:solid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72C0E620-EDBD-5160-DDF8-FFC586DF16E4}"/>
              </a:ext>
            </a:extLst>
          </p:cNvPr>
          <p:cNvPicPr>
            <a:picLocks noChangeAspect="1"/>
          </p:cNvPicPr>
          <p:nvPr/>
        </p:nvPicPr>
        <p:blipFill rotWithShape="1">
          <a:blip r:embed="rId19"/>
          <a:srcRect l="19417" t="46593" r="54750" b="19185"/>
          <a:stretch/>
        </p:blipFill>
        <p:spPr>
          <a:xfrm>
            <a:off x="9199279" y="2047852"/>
            <a:ext cx="2714813" cy="2022974"/>
          </a:xfrm>
          <a:prstGeom prst="rect">
            <a:avLst/>
          </a:prstGeom>
          <a:ln>
            <a:solidFill>
              <a:srgbClr val="5E4FA2"/>
            </a:solidFill>
          </a:ln>
          <a:effectLst>
            <a:outerShdw blurRad="292100" dist="139700" dir="2700000" algn="tl" rotWithShape="0">
              <a:srgbClr val="333333">
                <a:alpha val="65000"/>
              </a:srgbClr>
            </a:outerShdw>
          </a:effectLst>
        </p:spPr>
      </p:pic>
      <p:graphicFrame>
        <p:nvGraphicFramePr>
          <p:cNvPr id="10" name="Diagram 9">
            <a:extLst>
              <a:ext uri="{FF2B5EF4-FFF2-40B4-BE49-F238E27FC236}">
                <a16:creationId xmlns:a16="http://schemas.microsoft.com/office/drawing/2014/main" id="{8E84D343-9040-E594-9666-4158147463DD}"/>
              </a:ext>
            </a:extLst>
          </p:cNvPr>
          <p:cNvGraphicFramePr/>
          <p:nvPr>
            <p:extLst>
              <p:ext uri="{D42A27DB-BD31-4B8C-83A1-F6EECF244321}">
                <p14:modId xmlns:p14="http://schemas.microsoft.com/office/powerpoint/2010/main" val="1836998725"/>
              </p:ext>
            </p:extLst>
          </p:nvPr>
        </p:nvGraphicFramePr>
        <p:xfrm>
          <a:off x="303086" y="1697511"/>
          <a:ext cx="3474257" cy="262267"/>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
        <p:nvSpPr>
          <p:cNvPr id="11" name="Rectangle 10">
            <a:extLst>
              <a:ext uri="{FF2B5EF4-FFF2-40B4-BE49-F238E27FC236}">
                <a16:creationId xmlns:a16="http://schemas.microsoft.com/office/drawing/2014/main" id="{A51CA60C-DA4B-45E3-3289-EEB0A381B366}"/>
              </a:ext>
            </a:extLst>
          </p:cNvPr>
          <p:cNvSpPr/>
          <p:nvPr/>
        </p:nvSpPr>
        <p:spPr>
          <a:xfrm>
            <a:off x="5814876" y="2567939"/>
            <a:ext cx="412569" cy="215809"/>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CD2DDB-437A-D582-DFC4-934A82549E8C}"/>
              </a:ext>
            </a:extLst>
          </p:cNvPr>
          <p:cNvSpPr/>
          <p:nvPr/>
        </p:nvSpPr>
        <p:spPr>
          <a:xfrm>
            <a:off x="10713447" y="2567939"/>
            <a:ext cx="412569" cy="215809"/>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9539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84">
            <a:extLst>
              <a:ext uri="{FF2B5EF4-FFF2-40B4-BE49-F238E27FC236}">
                <a16:creationId xmlns:a16="http://schemas.microsoft.com/office/drawing/2014/main" id="{6988A726-3AB6-4134-93B5-7917603B1626}"/>
              </a:ext>
            </a:extLst>
          </p:cNvPr>
          <p:cNvGraphicFramePr>
            <a:graphicFrameLocks noGrp="1"/>
          </p:cNvGraphicFramePr>
          <p:nvPr>
            <p:extLst>
              <p:ext uri="{D42A27DB-BD31-4B8C-83A1-F6EECF244321}">
                <p14:modId xmlns:p14="http://schemas.microsoft.com/office/powerpoint/2010/main" val="3095044177"/>
              </p:ext>
            </p:extLst>
          </p:nvPr>
        </p:nvGraphicFramePr>
        <p:xfrm>
          <a:off x="284211" y="1742259"/>
          <a:ext cx="6707176" cy="3132389"/>
        </p:xfrm>
        <a:graphic>
          <a:graphicData uri="http://schemas.openxmlformats.org/drawingml/2006/table">
            <a:tbl>
              <a:tblPr firstRow="1" bandRow="1">
                <a:tableStyleId>{F5AB1C69-6EDB-4FF4-983F-18BD219EF322}</a:tableStyleId>
              </a:tblPr>
              <a:tblGrid>
                <a:gridCol w="1538442">
                  <a:extLst>
                    <a:ext uri="{9D8B030D-6E8A-4147-A177-3AD203B41FA5}">
                      <a16:colId xmlns:a16="http://schemas.microsoft.com/office/drawing/2014/main" val="4101951231"/>
                    </a:ext>
                  </a:extLst>
                </a:gridCol>
                <a:gridCol w="1538442">
                  <a:extLst>
                    <a:ext uri="{9D8B030D-6E8A-4147-A177-3AD203B41FA5}">
                      <a16:colId xmlns:a16="http://schemas.microsoft.com/office/drawing/2014/main" val="247240455"/>
                    </a:ext>
                  </a:extLst>
                </a:gridCol>
                <a:gridCol w="1815146">
                  <a:extLst>
                    <a:ext uri="{9D8B030D-6E8A-4147-A177-3AD203B41FA5}">
                      <a16:colId xmlns:a16="http://schemas.microsoft.com/office/drawing/2014/main" val="2704931442"/>
                    </a:ext>
                  </a:extLst>
                </a:gridCol>
                <a:gridCol w="1815146">
                  <a:extLst>
                    <a:ext uri="{9D8B030D-6E8A-4147-A177-3AD203B41FA5}">
                      <a16:colId xmlns:a16="http://schemas.microsoft.com/office/drawing/2014/main" val="2030005602"/>
                    </a:ext>
                  </a:extLst>
                </a:gridCol>
              </a:tblGrid>
              <a:tr h="615306">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700" dirty="0"/>
                    </a:p>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t>Performance logistic regression of the model with PCA</a:t>
                      </a:r>
                    </a:p>
                    <a:p>
                      <a:endParaRPr lang="en-US" sz="1200" dirty="0"/>
                    </a:p>
                  </a:txBody>
                  <a:tcPr marL="80892" marR="80892" marT="40446" marB="40446">
                    <a:solidFill>
                      <a:srgbClr val="5E4FA2"/>
                    </a:solidFill>
                  </a:tcPr>
                </a:tc>
                <a:tc hMerge="1">
                  <a:txBody>
                    <a:bodyPr/>
                    <a:lstStyle/>
                    <a:p>
                      <a:endParaRPr lang="en-US"/>
                    </a:p>
                  </a:txBody>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700" dirty="0"/>
                    </a:p>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t>Performance logistic regression of the model without PCA</a:t>
                      </a:r>
                    </a:p>
                    <a:p>
                      <a:endParaRPr lang="en-US" sz="1200" dirty="0"/>
                    </a:p>
                  </a:txBody>
                  <a:tcPr marL="80892" marR="80892" marT="40446" marB="40446">
                    <a:solidFill>
                      <a:srgbClr val="54045C"/>
                    </a:solidFill>
                  </a:tcPr>
                </a:tc>
                <a:tc hMerge="1">
                  <a:txBody>
                    <a:bodyPr/>
                    <a:lstStyle/>
                    <a:p>
                      <a:endParaRPr lang="en-US"/>
                    </a:p>
                  </a:txBody>
                  <a:tcPr/>
                </a:tc>
                <a:extLst>
                  <a:ext uri="{0D108BD9-81ED-4DB2-BD59-A6C34878D82A}">
                    <a16:rowId xmlns:a16="http://schemas.microsoft.com/office/drawing/2014/main" val="2905659452"/>
                  </a:ext>
                </a:extLst>
              </a:tr>
              <a:tr h="328385">
                <a:tc rowSpan="6">
                  <a:txBody>
                    <a:bodyPr/>
                    <a:lstStyle/>
                    <a:p>
                      <a:pPr algn="ctr">
                        <a:lnSpc>
                          <a:spcPct val="100000"/>
                        </a:lnSpc>
                        <a:spcBef>
                          <a:spcPts val="4200"/>
                        </a:spcBef>
                        <a:spcAft>
                          <a:spcPts val="2400"/>
                        </a:spcAft>
                      </a:pPr>
                      <a:endParaRPr lang="en-US" sz="1200" b="1" dirty="0"/>
                    </a:p>
                    <a:p>
                      <a:pPr algn="ctr">
                        <a:lnSpc>
                          <a:spcPct val="100000"/>
                        </a:lnSpc>
                        <a:spcBef>
                          <a:spcPts val="4200"/>
                        </a:spcBef>
                        <a:spcAft>
                          <a:spcPts val="2400"/>
                        </a:spcAft>
                      </a:pPr>
                      <a:r>
                        <a:rPr lang="en-US" sz="1200" b="1" dirty="0"/>
                        <a:t>Accuracy</a:t>
                      </a:r>
                    </a:p>
                  </a:txBody>
                  <a:tcPr marL="80892" marR="80892" marT="40446" marB="40446">
                    <a:solidFill>
                      <a:srgbClr val="5E4FA2">
                        <a:alpha val="28000"/>
                      </a:srgbClr>
                    </a:solidFill>
                  </a:tcPr>
                </a:tc>
                <a:tc rowSpan="6">
                  <a:txBody>
                    <a:bodyPr/>
                    <a:lstStyle/>
                    <a:p>
                      <a:pPr marL="0" marR="0" lvl="0" indent="0" algn="ctr" defTabSz="457200" rtl="0" eaLnBrk="1" fontAlgn="auto" latinLnBrk="0" hangingPunct="1">
                        <a:lnSpc>
                          <a:spcPct val="100000"/>
                        </a:lnSpc>
                        <a:spcBef>
                          <a:spcPts val="4200"/>
                        </a:spcBef>
                        <a:spcAft>
                          <a:spcPts val="2400"/>
                        </a:spcAft>
                        <a:buClrTx/>
                        <a:buSzTx/>
                        <a:buFontTx/>
                        <a:buNone/>
                        <a:tabLst/>
                        <a:defRPr/>
                      </a:pPr>
                      <a:endParaRPr lang="en-US" sz="1100" b="1" dirty="0"/>
                    </a:p>
                    <a:p>
                      <a:pPr marL="0" marR="0" lvl="0" indent="0" algn="ctr" defTabSz="457200" rtl="0" eaLnBrk="1" fontAlgn="auto" latinLnBrk="0" hangingPunct="1">
                        <a:lnSpc>
                          <a:spcPct val="100000"/>
                        </a:lnSpc>
                        <a:spcBef>
                          <a:spcPts val="4200"/>
                        </a:spcBef>
                        <a:spcAft>
                          <a:spcPts val="2400"/>
                        </a:spcAft>
                        <a:buClrTx/>
                        <a:buSzTx/>
                        <a:buFontTx/>
                        <a:buNone/>
                        <a:tabLst/>
                        <a:defRPr/>
                      </a:pPr>
                      <a:r>
                        <a:rPr lang="en-US" sz="1100" b="1" dirty="0"/>
                        <a:t>0.7782</a:t>
                      </a:r>
                      <a:endParaRPr lang="en-US" sz="1100" dirty="0"/>
                    </a:p>
                    <a:p>
                      <a:pPr>
                        <a:lnSpc>
                          <a:spcPct val="100000"/>
                        </a:lnSpc>
                        <a:spcBef>
                          <a:spcPts val="4200"/>
                        </a:spcBef>
                        <a:spcAft>
                          <a:spcPts val="2400"/>
                        </a:spcAft>
                      </a:pPr>
                      <a:endParaRPr lang="en-US" sz="1100" dirty="0"/>
                    </a:p>
                  </a:txBody>
                  <a:tcPr marL="80892" marR="80892" marT="40446" marB="40446">
                    <a:solidFill>
                      <a:srgbClr val="5E4FA2">
                        <a:alpha val="28000"/>
                      </a:srgbClr>
                    </a:solidFill>
                  </a:tcPr>
                </a:tc>
                <a:tc>
                  <a:txBody>
                    <a:bodyPr/>
                    <a:lstStyle/>
                    <a:p>
                      <a:pPr algn="ctr">
                        <a:lnSpc>
                          <a:spcPct val="150000"/>
                        </a:lnSpc>
                      </a:pPr>
                      <a:r>
                        <a:rPr lang="en-US" sz="1100" b="1" dirty="0"/>
                        <a:t>Accuracy</a:t>
                      </a:r>
                    </a:p>
                  </a:txBody>
                  <a:tcPr marL="58010" marR="58010" marT="29005" marB="29005">
                    <a:solidFill>
                      <a:srgbClr val="54045C">
                        <a:alpha val="28000"/>
                      </a:srgbClr>
                    </a:solidFill>
                  </a:tcP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1100" b="1" dirty="0"/>
                        <a:t>0.7782</a:t>
                      </a:r>
                    </a:p>
                  </a:txBody>
                  <a:tcPr marL="58010" marR="58010" marT="29005" marB="29005">
                    <a:solidFill>
                      <a:srgbClr val="54045C">
                        <a:alpha val="28000"/>
                      </a:srgbClr>
                    </a:solidFill>
                  </a:tcPr>
                </a:tc>
                <a:extLst>
                  <a:ext uri="{0D108BD9-81ED-4DB2-BD59-A6C34878D82A}">
                    <a16:rowId xmlns:a16="http://schemas.microsoft.com/office/drawing/2014/main" val="156424955"/>
                  </a:ext>
                </a:extLst>
              </a:tr>
              <a:tr h="362584">
                <a:tc vMerge="1">
                  <a:txBody>
                    <a:bodyPr/>
                    <a:lstStyle/>
                    <a:p>
                      <a:endParaRPr lang="en-US" sz="1300" dirty="0"/>
                    </a:p>
                  </a:txBody>
                  <a:tcPr marL="65574" marR="65574" marT="32787" marB="32787"/>
                </a:tc>
                <a:tc vMerge="1">
                  <a:txBody>
                    <a:bodyPr/>
                    <a:lstStyle/>
                    <a:p>
                      <a:endParaRPr lang="en-US"/>
                    </a:p>
                  </a:txBody>
                  <a:tcPr/>
                </a:tc>
                <a:tc gridSpan="2">
                  <a:txBody>
                    <a:bodyPr/>
                    <a:lstStyle/>
                    <a:p>
                      <a:pPr algn="ctr">
                        <a:lnSpc>
                          <a:spcPct val="200000"/>
                        </a:lnSpc>
                      </a:pPr>
                      <a:r>
                        <a:rPr lang="en-US" sz="1100" b="1" dirty="0">
                          <a:solidFill>
                            <a:schemeClr val="bg1"/>
                          </a:solidFill>
                        </a:rPr>
                        <a:t>After</a:t>
                      </a:r>
                      <a:r>
                        <a:rPr lang="en-US" sz="800" b="1" dirty="0">
                          <a:solidFill>
                            <a:schemeClr val="bg1"/>
                          </a:solidFill>
                        </a:rPr>
                        <a:t> </a:t>
                      </a:r>
                      <a:r>
                        <a:rPr lang="en-US" sz="1100" b="1" dirty="0">
                          <a:solidFill>
                            <a:schemeClr val="bg1"/>
                          </a:solidFill>
                        </a:rPr>
                        <a:t>ROC Curve</a:t>
                      </a:r>
                      <a:r>
                        <a:rPr lang="en-US" sz="800" b="1" dirty="0">
                          <a:solidFill>
                            <a:schemeClr val="bg1"/>
                          </a:solidFill>
                        </a:rPr>
                        <a:t> </a:t>
                      </a:r>
                    </a:p>
                  </a:txBody>
                  <a:tcPr marL="80892" marR="80892" marT="40446" marB="40446">
                    <a:solidFill>
                      <a:srgbClr val="54045C"/>
                    </a:solidFill>
                  </a:tcPr>
                </a:tc>
                <a:tc hMerge="1">
                  <a:txBody>
                    <a:bodyPr/>
                    <a:lstStyle/>
                    <a:p>
                      <a:endParaRPr lang="en-US" dirty="0"/>
                    </a:p>
                  </a:txBody>
                  <a:tcPr/>
                </a:tc>
                <a:extLst>
                  <a:ext uri="{0D108BD9-81ED-4DB2-BD59-A6C34878D82A}">
                    <a16:rowId xmlns:a16="http://schemas.microsoft.com/office/drawing/2014/main" val="1106622157"/>
                  </a:ext>
                </a:extLst>
              </a:tr>
              <a:tr h="376116">
                <a:tc vMerge="1">
                  <a:txBody>
                    <a:bodyPr/>
                    <a:lstStyle/>
                    <a:p>
                      <a:endParaRPr lang="en-US" sz="1300" dirty="0"/>
                    </a:p>
                  </a:txBody>
                  <a:tcPr marL="65574" marR="65574" marT="32787" marB="32787"/>
                </a:tc>
                <a:tc vMerge="1">
                  <a:txBody>
                    <a:bodyPr/>
                    <a:lstStyle/>
                    <a:p>
                      <a:endParaRPr lang="en-US"/>
                    </a:p>
                  </a:txBody>
                  <a:tcPr/>
                </a:tc>
                <a:tc>
                  <a:txBody>
                    <a:bodyPr/>
                    <a:lstStyle/>
                    <a:p>
                      <a:pPr algn="ctr">
                        <a:lnSpc>
                          <a:spcPct val="150000"/>
                        </a:lnSpc>
                      </a:pPr>
                      <a:r>
                        <a:rPr lang="en-US" sz="1100" b="1" dirty="0"/>
                        <a:t>Thresholds</a:t>
                      </a:r>
                    </a:p>
                  </a:txBody>
                  <a:tcPr marL="58010" marR="58010" marT="29005" marB="29005">
                    <a:solidFill>
                      <a:srgbClr val="54045C">
                        <a:alpha val="28000"/>
                      </a:srgbClr>
                    </a:solidFill>
                  </a:tcP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100" b="1" u="none" strike="noStrike" kern="1200" cap="none" spc="0" normalizeH="0" baseline="0" noProof="0" dirty="0">
                          <a:ln>
                            <a:noFill/>
                          </a:ln>
                          <a:solidFill>
                            <a:prstClr val="black"/>
                          </a:solidFill>
                          <a:effectLst/>
                          <a:uLnTx/>
                          <a:uFillTx/>
                        </a:rPr>
                        <a:t>Accuracies</a:t>
                      </a:r>
                    </a:p>
                    <a:p>
                      <a:pPr algn="ctr"/>
                      <a:endParaRPr lang="en-US" sz="800" b="1" dirty="0"/>
                    </a:p>
                  </a:txBody>
                  <a:tcPr marL="58010" marR="58010" marT="29005" marB="29005">
                    <a:solidFill>
                      <a:srgbClr val="54045C">
                        <a:alpha val="28000"/>
                      </a:srgbClr>
                    </a:solidFill>
                  </a:tcPr>
                </a:tc>
                <a:extLst>
                  <a:ext uri="{0D108BD9-81ED-4DB2-BD59-A6C34878D82A}">
                    <a16:rowId xmlns:a16="http://schemas.microsoft.com/office/drawing/2014/main" val="152601477"/>
                  </a:ext>
                </a:extLst>
              </a:tr>
              <a:tr h="338399">
                <a:tc vMerge="1">
                  <a:txBody>
                    <a:bodyPr/>
                    <a:lstStyle/>
                    <a:p>
                      <a:endParaRPr lang="en-US"/>
                    </a:p>
                  </a:txBody>
                  <a:tcPr/>
                </a:tc>
                <a:tc vMerge="1">
                  <a:txBody>
                    <a:bodyPr/>
                    <a:lstStyle/>
                    <a:p>
                      <a:endParaRPr 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t>0.2</a:t>
                      </a:r>
                    </a:p>
                  </a:txBody>
                  <a:tcPr marL="58010" marR="58010" marT="29005" marB="29005">
                    <a:solidFill>
                      <a:srgbClr val="54045C">
                        <a:alpha val="28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t>0.5445</a:t>
                      </a:r>
                    </a:p>
                  </a:txBody>
                  <a:tcPr marL="58010" marR="58010" marT="29005" marB="29005">
                    <a:solidFill>
                      <a:srgbClr val="54045C">
                        <a:alpha val="28000"/>
                      </a:srgbClr>
                    </a:solidFill>
                  </a:tcPr>
                </a:tc>
                <a:extLst>
                  <a:ext uri="{0D108BD9-81ED-4DB2-BD59-A6C34878D82A}">
                    <a16:rowId xmlns:a16="http://schemas.microsoft.com/office/drawing/2014/main" val="1174100346"/>
                  </a:ext>
                </a:extLst>
              </a:tr>
              <a:tr h="390234">
                <a:tc vMerge="1">
                  <a:txBody>
                    <a:bodyPr/>
                    <a:lstStyle/>
                    <a:p>
                      <a:endParaRPr lang="en-US"/>
                    </a:p>
                  </a:txBody>
                  <a:tcPr/>
                </a:tc>
                <a:tc vMerge="1">
                  <a:txBody>
                    <a:bodyPr/>
                    <a:lstStyle/>
                    <a:p>
                      <a:endParaRPr 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t>0.5</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100" b="1" dirty="0"/>
                    </a:p>
                  </a:txBody>
                  <a:tcPr marL="58010" marR="58010" marT="29005" marB="29005">
                    <a:solidFill>
                      <a:srgbClr val="54045C">
                        <a:alpha val="28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t>0.7785</a:t>
                      </a:r>
                    </a:p>
                    <a:p>
                      <a:pPr marL="0" marR="0" lvl="0" indent="0" algn="ctr" defTabSz="457200" rtl="0" eaLnBrk="1" fontAlgn="auto" latinLnBrk="0" hangingPunct="1">
                        <a:lnSpc>
                          <a:spcPct val="150000"/>
                        </a:lnSpc>
                        <a:spcBef>
                          <a:spcPts val="0"/>
                        </a:spcBef>
                        <a:spcAft>
                          <a:spcPts val="0"/>
                        </a:spcAft>
                        <a:buClrTx/>
                        <a:buSzTx/>
                        <a:buFontTx/>
                        <a:buNone/>
                        <a:tabLst/>
                        <a:defRPr/>
                      </a:pPr>
                      <a:endParaRPr lang="en-US" sz="1100" b="1" dirty="0"/>
                    </a:p>
                  </a:txBody>
                  <a:tcPr marL="58010" marR="58010" marT="29005" marB="29005">
                    <a:solidFill>
                      <a:srgbClr val="54045C">
                        <a:alpha val="28000"/>
                      </a:srgbClr>
                    </a:solidFill>
                  </a:tcPr>
                </a:tc>
                <a:extLst>
                  <a:ext uri="{0D108BD9-81ED-4DB2-BD59-A6C34878D82A}">
                    <a16:rowId xmlns:a16="http://schemas.microsoft.com/office/drawing/2014/main" val="314455811"/>
                  </a:ext>
                </a:extLst>
              </a:tr>
              <a:tr h="449196">
                <a:tc vMerge="1">
                  <a:txBody>
                    <a:bodyPr/>
                    <a:lstStyle/>
                    <a:p>
                      <a:endParaRPr lang="en-US"/>
                    </a:p>
                  </a:txBody>
                  <a:tcPr/>
                </a:tc>
                <a:tc vMerge="1">
                  <a:txBody>
                    <a:bodyPr/>
                    <a:lstStyle/>
                    <a:p>
                      <a:endParaRPr 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0" b="1" u="none" strike="noStrike" kern="1200" cap="none" spc="0" normalizeH="0" baseline="0" noProof="0" dirty="0">
                        <a:ln>
                          <a:noFill/>
                        </a:ln>
                        <a:solidFill>
                          <a:prstClr val="black"/>
                        </a:solidFill>
                        <a:effectLst/>
                        <a:uLnTx/>
                        <a:uFillTx/>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u="none" strike="noStrike" kern="1200" cap="none" spc="0" normalizeH="0" baseline="0" noProof="0" dirty="0">
                          <a:ln>
                            <a:noFill/>
                          </a:ln>
                          <a:solidFill>
                            <a:prstClr val="black"/>
                          </a:solidFill>
                          <a:effectLst/>
                          <a:uLnTx/>
                          <a:uFillTx/>
                        </a:rPr>
                        <a:t>roc_auc_score</a:t>
                      </a:r>
                    </a:p>
                  </a:txBody>
                  <a:tcPr marL="58010" marR="58010" marT="29005" marB="29005">
                    <a:solidFill>
                      <a:srgbClr val="54045C">
                        <a:alpha val="28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100" b="1" dirty="0"/>
                    </a:p>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t>0.5</a:t>
                      </a:r>
                    </a:p>
                    <a:p>
                      <a:pPr algn="ctr"/>
                      <a:endParaRPr lang="en-US" sz="800" b="1" dirty="0"/>
                    </a:p>
                  </a:txBody>
                  <a:tcPr marL="58010" marR="58010" marT="29005" marB="29005">
                    <a:solidFill>
                      <a:srgbClr val="54045C">
                        <a:alpha val="28000"/>
                      </a:srgbClr>
                    </a:solidFill>
                  </a:tcPr>
                </a:tc>
                <a:extLst>
                  <a:ext uri="{0D108BD9-81ED-4DB2-BD59-A6C34878D82A}">
                    <a16:rowId xmlns:a16="http://schemas.microsoft.com/office/drawing/2014/main" val="1578247782"/>
                  </a:ext>
                </a:extLst>
              </a:tr>
            </a:tbl>
          </a:graphicData>
        </a:graphic>
      </p:graphicFrame>
      <p:graphicFrame>
        <p:nvGraphicFramePr>
          <p:cNvPr id="17" name="Diagram 16">
            <a:extLst>
              <a:ext uri="{FF2B5EF4-FFF2-40B4-BE49-F238E27FC236}">
                <a16:creationId xmlns:a16="http://schemas.microsoft.com/office/drawing/2014/main" id="{6E38E190-A2D9-4B86-ABF4-75D5ECC342F7}"/>
              </a:ext>
            </a:extLst>
          </p:cNvPr>
          <p:cNvGraphicFramePr/>
          <p:nvPr>
            <p:extLst>
              <p:ext uri="{D42A27DB-BD31-4B8C-83A1-F6EECF244321}">
                <p14:modId xmlns:p14="http://schemas.microsoft.com/office/powerpoint/2010/main" val="3754121619"/>
              </p:ext>
            </p:extLst>
          </p:nvPr>
        </p:nvGraphicFramePr>
        <p:xfrm>
          <a:off x="284211" y="1346284"/>
          <a:ext cx="2686050" cy="369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19E2906-AB65-4F9C-A449-F3E86DF66E7C}"/>
              </a:ext>
            </a:extLst>
          </p:cNvPr>
          <p:cNvSpPr txBox="1"/>
          <p:nvPr/>
        </p:nvSpPr>
        <p:spPr>
          <a:xfrm>
            <a:off x="284211" y="4931771"/>
            <a:ext cx="6707176" cy="1720151"/>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sz="1200" dirty="0"/>
              <a:t>Without PCA we </a:t>
            </a:r>
            <a:r>
              <a:rPr lang="en-US" sz="1200"/>
              <a:t>got 0.7782 </a:t>
            </a:r>
            <a:r>
              <a:rPr lang="en-US" sz="1200" dirty="0"/>
              <a:t>accuracy </a:t>
            </a:r>
          </a:p>
          <a:p>
            <a:pPr marL="171450" indent="-171450">
              <a:lnSpc>
                <a:spcPct val="150000"/>
              </a:lnSpc>
              <a:buFont typeface="Wingdings" panose="05000000000000000000" pitchFamily="2" charset="2"/>
              <a:buChar char="ü"/>
            </a:pPr>
            <a:r>
              <a:rPr lang="en-US" sz="1200" dirty="0"/>
              <a:t>With PCA we got 0.7782 accuracy </a:t>
            </a:r>
          </a:p>
          <a:p>
            <a:pPr marL="171450" indent="-171450" algn="l">
              <a:lnSpc>
                <a:spcPct val="150000"/>
              </a:lnSpc>
              <a:buFont typeface="Wingdings" panose="05000000000000000000" pitchFamily="2" charset="2"/>
              <a:buChar char="ü"/>
            </a:pPr>
            <a:r>
              <a:rPr lang="en-US" sz="1200" i="0" dirty="0">
                <a:solidFill>
                  <a:srgbClr val="000000"/>
                </a:solidFill>
                <a:effectLst/>
              </a:rPr>
              <a:t>We choose 0.5 threshold for logistic regression model which data has not pre processed by PCA and we got 0.7785 accuracy. </a:t>
            </a:r>
          </a:p>
          <a:p>
            <a:pPr marL="171450" indent="-171450" algn="l">
              <a:lnSpc>
                <a:spcPct val="150000"/>
              </a:lnSpc>
              <a:buFont typeface="Wingdings" panose="05000000000000000000" pitchFamily="2" charset="2"/>
              <a:buChar char="ü"/>
            </a:pPr>
            <a:r>
              <a:rPr lang="en-US" sz="1200" dirty="0">
                <a:solidFill>
                  <a:srgbClr val="000000"/>
                </a:solidFill>
              </a:rPr>
              <a:t>Generally we can say that with and without performing PCA with 2 number of components, we have roughly similar accuracy which is 0.7785.</a:t>
            </a:r>
            <a:endParaRPr lang="en-US" sz="1200" i="0" dirty="0">
              <a:solidFill>
                <a:srgbClr val="000000"/>
              </a:solidFill>
              <a:effectLst/>
            </a:endParaRPr>
          </a:p>
        </p:txBody>
      </p:sp>
      <p:grpSp>
        <p:nvGrpSpPr>
          <p:cNvPr id="9" name="Group 8">
            <a:extLst>
              <a:ext uri="{FF2B5EF4-FFF2-40B4-BE49-F238E27FC236}">
                <a16:creationId xmlns:a16="http://schemas.microsoft.com/office/drawing/2014/main" id="{32489EC3-6FFC-DAC0-4578-8A15ACD9D0EB}"/>
              </a:ext>
            </a:extLst>
          </p:cNvPr>
          <p:cNvGrpSpPr/>
          <p:nvPr/>
        </p:nvGrpSpPr>
        <p:grpSpPr>
          <a:xfrm>
            <a:off x="2771823" y="773252"/>
            <a:ext cx="878541" cy="257400"/>
            <a:chOff x="1937721" y="175030"/>
            <a:chExt cx="878541" cy="257400"/>
          </a:xfrm>
        </p:grpSpPr>
        <p:sp>
          <p:nvSpPr>
            <p:cNvPr id="10" name="Rectangle: Rounded Corners 9">
              <a:extLst>
                <a:ext uri="{FF2B5EF4-FFF2-40B4-BE49-F238E27FC236}">
                  <a16:creationId xmlns:a16="http://schemas.microsoft.com/office/drawing/2014/main" id="{1BAB2486-FBA0-8B13-355A-8197AF9F251B}"/>
                </a:ext>
              </a:extLst>
            </p:cNvPr>
            <p:cNvSpPr/>
            <p:nvPr/>
          </p:nvSpPr>
          <p:spPr>
            <a:xfrm flipH="1">
              <a:off x="1937721" y="175030"/>
              <a:ext cx="878541" cy="257400"/>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1" name="Rectangle: Rounded Corners 4">
              <a:extLst>
                <a:ext uri="{FF2B5EF4-FFF2-40B4-BE49-F238E27FC236}">
                  <a16:creationId xmlns:a16="http://schemas.microsoft.com/office/drawing/2014/main" id="{60FF1733-9634-9A6A-62C1-FBC94668F519}"/>
                </a:ext>
              </a:extLst>
            </p:cNvPr>
            <p:cNvSpPr txBox="1"/>
            <p:nvPr/>
          </p:nvSpPr>
          <p:spPr>
            <a:xfrm>
              <a:off x="1950286" y="187595"/>
              <a:ext cx="853411" cy="2322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dirty="0"/>
                <a:t>Task 3: </a:t>
              </a:r>
              <a:endParaRPr lang="en-US" sz="1100" kern="1200" dirty="0"/>
            </a:p>
          </p:txBody>
        </p:sp>
      </p:grpSp>
      <p:grpSp>
        <p:nvGrpSpPr>
          <p:cNvPr id="13" name="Group 12">
            <a:extLst>
              <a:ext uri="{FF2B5EF4-FFF2-40B4-BE49-F238E27FC236}">
                <a16:creationId xmlns:a16="http://schemas.microsoft.com/office/drawing/2014/main" id="{E1309F07-273F-7C28-467D-047892DC7174}"/>
              </a:ext>
            </a:extLst>
          </p:cNvPr>
          <p:cNvGrpSpPr/>
          <p:nvPr/>
        </p:nvGrpSpPr>
        <p:grpSpPr>
          <a:xfrm>
            <a:off x="3754370" y="637792"/>
            <a:ext cx="4683260" cy="528320"/>
            <a:chOff x="2858396" y="0"/>
            <a:chExt cx="5809129" cy="617829"/>
          </a:xfrm>
        </p:grpSpPr>
        <p:sp>
          <p:nvSpPr>
            <p:cNvPr id="14" name="Rectangle: Rounded Corners 13">
              <a:extLst>
                <a:ext uri="{FF2B5EF4-FFF2-40B4-BE49-F238E27FC236}">
                  <a16:creationId xmlns:a16="http://schemas.microsoft.com/office/drawing/2014/main" id="{F1A04C24-BFE9-AD56-E057-5A6916296A73}"/>
                </a:ext>
              </a:extLst>
            </p:cNvPr>
            <p:cNvSpPr/>
            <p:nvPr/>
          </p:nvSpPr>
          <p:spPr>
            <a:xfrm>
              <a:off x="2858396" y="0"/>
              <a:ext cx="5809129" cy="617829"/>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Rectangle: Rounded Corners 4">
              <a:extLst>
                <a:ext uri="{FF2B5EF4-FFF2-40B4-BE49-F238E27FC236}">
                  <a16:creationId xmlns:a16="http://schemas.microsoft.com/office/drawing/2014/main" id="{04041372-8449-4149-EBEB-BABC5E4181C3}"/>
                </a:ext>
              </a:extLst>
            </p:cNvPr>
            <p:cNvSpPr txBox="1"/>
            <p:nvPr/>
          </p:nvSpPr>
          <p:spPr>
            <a:xfrm>
              <a:off x="2888556" y="30160"/>
              <a:ext cx="5748809" cy="5575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defTabSz="488950">
                <a:lnSpc>
                  <a:spcPct val="90000"/>
                </a:lnSpc>
                <a:spcBef>
                  <a:spcPct val="0"/>
                </a:spcBef>
                <a:spcAft>
                  <a:spcPct val="35000"/>
                </a:spcAft>
              </a:pPr>
              <a:endParaRPr lang="en-US" sz="1100" b="1" dirty="0">
                <a:solidFill>
                  <a:schemeClr val="bg1"/>
                </a:solidFill>
                <a:latin typeface="Helvetica Neue"/>
              </a:endParaRPr>
            </a:p>
            <a:p>
              <a:pPr defTabSz="488950">
                <a:lnSpc>
                  <a:spcPct val="90000"/>
                </a:lnSpc>
                <a:spcBef>
                  <a:spcPct val="0"/>
                </a:spcBef>
                <a:spcAft>
                  <a:spcPct val="35000"/>
                </a:spcAft>
              </a:pPr>
              <a:r>
                <a:rPr lang="en-US" sz="1100" b="1" dirty="0">
                  <a:solidFill>
                    <a:schemeClr val="bg1"/>
                  </a:solidFill>
                  <a:latin typeface="Helvetica Neue"/>
                </a:rPr>
                <a:t>C</a:t>
              </a:r>
              <a:r>
                <a:rPr lang="en-US" sz="1100" b="1" i="0" dirty="0">
                  <a:solidFill>
                    <a:schemeClr val="bg1"/>
                  </a:solidFill>
                  <a:effectLst/>
                  <a:latin typeface="Helvetica Neue"/>
                </a:rPr>
                <a:t>hoose threshold for PCA + logistic regression model using ROC</a:t>
              </a:r>
            </a:p>
            <a:p>
              <a:pPr marL="0" lvl="0" indent="0" algn="l" defTabSz="488950">
                <a:lnSpc>
                  <a:spcPct val="90000"/>
                </a:lnSpc>
                <a:spcBef>
                  <a:spcPct val="0"/>
                </a:spcBef>
                <a:spcAft>
                  <a:spcPct val="35000"/>
                </a:spcAft>
                <a:buNone/>
              </a:pPr>
              <a:endParaRPr lang="en-US" sz="1100" kern="1200" dirty="0"/>
            </a:p>
          </p:txBody>
        </p:sp>
      </p:grpSp>
      <p:graphicFrame>
        <p:nvGraphicFramePr>
          <p:cNvPr id="19" name="Diagram 18">
            <a:extLst>
              <a:ext uri="{FF2B5EF4-FFF2-40B4-BE49-F238E27FC236}">
                <a16:creationId xmlns:a16="http://schemas.microsoft.com/office/drawing/2014/main" id="{93B0BA49-CAA4-78ED-1A30-0CAF8E88BC6D}"/>
              </a:ext>
            </a:extLst>
          </p:cNvPr>
          <p:cNvGraphicFramePr/>
          <p:nvPr>
            <p:extLst>
              <p:ext uri="{D42A27DB-BD31-4B8C-83A1-F6EECF244321}">
                <p14:modId xmlns:p14="http://schemas.microsoft.com/office/powerpoint/2010/main" val="2844521617"/>
              </p:ext>
            </p:extLst>
          </p:nvPr>
        </p:nvGraphicFramePr>
        <p:xfrm>
          <a:off x="7112000" y="1292998"/>
          <a:ext cx="3108960" cy="42261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6" name="Picture 5">
            <a:extLst>
              <a:ext uri="{FF2B5EF4-FFF2-40B4-BE49-F238E27FC236}">
                <a16:creationId xmlns:a16="http://schemas.microsoft.com/office/drawing/2014/main" id="{F5B21E9C-C43E-26DF-285F-AEAA7F6BB46A}"/>
              </a:ext>
            </a:extLst>
          </p:cNvPr>
          <p:cNvPicPr>
            <a:picLocks noChangeAspect="1"/>
          </p:cNvPicPr>
          <p:nvPr/>
        </p:nvPicPr>
        <p:blipFill>
          <a:blip r:embed="rId12"/>
          <a:stretch>
            <a:fillRect/>
          </a:stretch>
        </p:blipFill>
        <p:spPr>
          <a:xfrm>
            <a:off x="7112000" y="1824912"/>
            <a:ext cx="3667760" cy="2967082"/>
          </a:xfrm>
          <a:prstGeom prst="rect">
            <a:avLst/>
          </a:prstGeom>
          <a:solidFill>
            <a:srgbClr val="54045C"/>
          </a:solidFill>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66357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Tech design</Template>
  <TotalTime>1403</TotalTime>
  <Words>719</Words>
  <Application>Microsoft Office PowerPoint</Application>
  <PresentationFormat>Widescreen</PresentationFormat>
  <Paragraphs>90</Paragraphs>
  <Slides>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Gill Sans MT</vt:lpstr>
      <vt:lpstr>Helvetica Neue</vt:lpstr>
      <vt:lpstr>Wingdings</vt:lpstr>
      <vt:lpstr>Wingdings 2</vt:lpstr>
      <vt:lpstr>Dividend</vt:lpstr>
      <vt:lpstr>Applied Machine Learning</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Machine Learning</dc:title>
  <dc:creator>abel nerea</dc:creator>
  <cp:lastModifiedBy>abel nerea</cp:lastModifiedBy>
  <cp:revision>20</cp:revision>
  <dcterms:created xsi:type="dcterms:W3CDTF">2022-04-28T21:03:25Z</dcterms:created>
  <dcterms:modified xsi:type="dcterms:W3CDTF">2022-05-04T14:57:02Z</dcterms:modified>
</cp:coreProperties>
</file>